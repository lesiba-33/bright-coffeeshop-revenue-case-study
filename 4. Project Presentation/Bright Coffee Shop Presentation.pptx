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Lst>
  <p:sldSz cx="18288000" cy="10287000"/>
  <p:notesSz cx="6858000" cy="9144000"/>
  <p:embeddedFontLst>
    <p:embeddedFont>
      <p:font typeface="Canva Sans" panose="020B0604020202020204" charset="0"/>
      <p:regular r:id="rId11"/>
    </p:embeddedFont>
    <p:embeddedFont>
      <p:font typeface="Century Gothic" panose="020B0502020202020204" pitchFamily="34" charset="0"/>
      <p:regular r:id="rId12"/>
      <p:bold r:id="rId13"/>
      <p:italic r:id="rId14"/>
      <p:boldItalic r:id="rId15"/>
    </p:embeddedFont>
    <p:embeddedFont>
      <p:font typeface="ITC Avant Garde Gothic" panose="020B0604020202020204" charset="0"/>
      <p:regular r:id="rId16"/>
    </p:embeddedFont>
    <p:embeddedFont>
      <p:font typeface="ITC Avant Garde Gothic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1" d="100"/>
          <a:sy n="61" d="100"/>
        </p:scale>
        <p:origin x="108" y="2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charts/_rels/chart1.xml.rels><?xml version="1.0" encoding="UTF-8" standalone="yes"?>
<Relationships xmlns="http://schemas.openxmlformats.org/package/2006/relationships"><Relationship Id="rId3" Type="http://schemas.openxmlformats.org/officeDocument/2006/relationships/oleObject" Target="file:///C:\Users\LesibaSema\Downloads\Bright%20Coffee%20Shop%20Analys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LesibaSema\Downloads\Bright%20Coffee%20Shop%20Analysi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LesibaSema\Downloads\Bright%20Coffee%20Shop%20Analysi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LesibaSema\Downloads\Bright%20Coffee%20Shop%20Analysi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LesibaSema\Downloads\Bright%20Coffee%20Shop%20Analysi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LesibaSema\Downloads\Bright%20Coffee%20Shop%20Analysis.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[Bright Coffee Shop Analysis.xlsx]Revenue by Store Location!PivotTable8</c:name>
    <c:fmtId val="17"/>
  </c:pivotSource>
  <c:chart>
    <c:title>
      <c:tx>
        <c:rich>
          <a:bodyPr rot="0" spcFirstLastPara="1" vertOverflow="ellipsis" vert="horz" wrap="square" anchor="ctr" anchorCtr="1"/>
          <a:lstStyle/>
          <a:p>
            <a:pPr>
              <a:defRPr sz="1680" b="1" i="0" u="none" strike="noStrike" kern="1200" baseline="0">
                <a:solidFill>
                  <a:schemeClr val="tx1">
                    <a:lumMod val="65000"/>
                    <a:lumOff val="35000"/>
                  </a:schemeClr>
                </a:solidFill>
                <a:latin typeface="Century Gothic" panose="020B0502020202020204" pitchFamily="34" charset="0"/>
                <a:ea typeface="+mn-ea"/>
                <a:cs typeface="+mn-cs"/>
              </a:defRPr>
            </a:pPr>
            <a:r>
              <a:rPr lang="en-US"/>
              <a:t>Total Revenue By Store</a:t>
            </a:r>
          </a:p>
        </c:rich>
      </c:tx>
      <c:overlay val="0"/>
      <c:spPr>
        <a:noFill/>
        <a:ln>
          <a:noFill/>
        </a:ln>
        <a:effectLst/>
      </c:spPr>
      <c:txPr>
        <a:bodyPr rot="0" spcFirstLastPara="1" vertOverflow="ellipsis" vert="horz" wrap="square" anchor="ctr" anchorCtr="1"/>
        <a:lstStyle/>
        <a:p>
          <a:pPr>
            <a:defRPr sz="1680" b="1"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dLbl>
          <c:idx val="0"/>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'Revenue by Store Location'!$B$33</c:f>
              <c:strCache>
                <c:ptCount val="1"/>
                <c:pt idx="0">
                  <c:v>Total</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Century Gothic" panose="020B0502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'Revenue by Store Location'!$A$34:$A$37</c:f>
              <c:strCache>
                <c:ptCount val="3"/>
                <c:pt idx="0">
                  <c:v>Astoria</c:v>
                </c:pt>
                <c:pt idx="1">
                  <c:v>Hell's Kitchen</c:v>
                </c:pt>
                <c:pt idx="2">
                  <c:v>Lower Manhattan</c:v>
                </c:pt>
              </c:strCache>
            </c:strRef>
          </c:cat>
          <c:val>
            <c:numRef>
              <c:f>'Revenue by Store Location'!$B$34:$B$37</c:f>
              <c:numCache>
                <c:formatCode>_("R"* #,##0.00_);_("R"* \(#,##0.00\);_("R"* "-"??_);_(@_)</c:formatCode>
                <c:ptCount val="3"/>
                <c:pt idx="0">
                  <c:v>232243.91000000975</c:v>
                </c:pt>
                <c:pt idx="1">
                  <c:v>236511.17000000973</c:v>
                </c:pt>
                <c:pt idx="2">
                  <c:v>230057.25000000748</c:v>
                </c:pt>
              </c:numCache>
            </c:numRef>
          </c:val>
          <c:extLst>
            <c:ext xmlns:c16="http://schemas.microsoft.com/office/drawing/2014/chart" uri="{C3380CC4-5D6E-409C-BE32-E72D297353CC}">
              <c16:uniqueId val="{00000000-3A6B-4F15-80BD-B7945A81AEE4}"/>
            </c:ext>
          </c:extLst>
        </c:ser>
        <c:dLbls>
          <c:dLblPos val="outEnd"/>
          <c:showLegendKey val="0"/>
          <c:showVal val="1"/>
          <c:showCatName val="0"/>
          <c:showSerName val="0"/>
          <c:showPercent val="0"/>
          <c:showBubbleSize val="0"/>
        </c:dLbls>
        <c:gapWidth val="100"/>
        <c:overlap val="-24"/>
        <c:axId val="1800340640"/>
        <c:axId val="1800340160"/>
      </c:barChart>
      <c:catAx>
        <c:axId val="1800340640"/>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r>
                  <a:rPr lang="en-ZA"/>
                  <a:t>Store</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800340160"/>
        <c:crosses val="autoZero"/>
        <c:auto val="1"/>
        <c:lblAlgn val="ctr"/>
        <c:lblOffset val="100"/>
        <c:noMultiLvlLbl val="0"/>
      </c:catAx>
      <c:valAx>
        <c:axId val="18003401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r>
                  <a:rPr lang="en-ZA"/>
                  <a:t>Revenue</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title>
        <c:numFmt formatCode="_(&quot;R&quot;* #,##0.00_);_(&quot;R&quot;* \(#,##0.00\);_(&quot;R&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80034064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entury Gothic" panose="020B050202020202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[Bright Coffee Shop Analysis.xlsx]Revenue by Store Location!PivotTable4</c:name>
    <c:fmtId val="7"/>
  </c:pivotSource>
  <c:chart>
    <c:title>
      <c:tx>
        <c:rich>
          <a:bodyPr rot="0" spcFirstLastPara="1" vertOverflow="ellipsis" vert="horz" wrap="square" anchor="ctr" anchorCtr="1"/>
          <a:lstStyle/>
          <a:p>
            <a:pPr>
              <a:defRPr sz="1680" b="1" i="0" u="none" strike="noStrike" kern="1200" baseline="0">
                <a:solidFill>
                  <a:schemeClr val="tx1">
                    <a:lumMod val="65000"/>
                    <a:lumOff val="35000"/>
                  </a:schemeClr>
                </a:solidFill>
                <a:latin typeface="Century Gothic" panose="020B0502020202020204" pitchFamily="34" charset="0"/>
                <a:ea typeface="+mn-ea"/>
                <a:cs typeface="+mn-cs"/>
              </a:defRPr>
            </a:pPr>
            <a:r>
              <a:rPr lang="en-ZA"/>
              <a:t>Monthly Revenue by Store</a:t>
            </a:r>
          </a:p>
        </c:rich>
      </c:tx>
      <c:overlay val="0"/>
      <c:spPr>
        <a:noFill/>
        <a:ln>
          <a:noFill/>
        </a:ln>
        <a:effectLst/>
      </c:spPr>
      <c:txPr>
        <a:bodyPr rot="0" spcFirstLastPara="1" vertOverflow="ellipsis" vert="horz" wrap="square" anchor="ctr" anchorCtr="1"/>
        <a:lstStyle/>
        <a:p>
          <a:pPr>
            <a:defRPr sz="1680" b="1"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title>
    <c:autoTitleDeleted val="0"/>
    <c:pivotFmts>
      <c:pivotFmt>
        <c:idx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'Revenue by Store Location'!$B$3:$B$4</c:f>
              <c:strCache>
                <c:ptCount val="1"/>
                <c:pt idx="0">
                  <c:v>Astoria</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cat>
            <c:strRef>
              <c:f>'Revenue by Store Location'!$A$5:$A$11</c:f>
              <c:strCache>
                <c:ptCount val="6"/>
                <c:pt idx="0">
                  <c:v>Jan</c:v>
                </c:pt>
                <c:pt idx="1">
                  <c:v>Feb</c:v>
                </c:pt>
                <c:pt idx="2">
                  <c:v>Mar</c:v>
                </c:pt>
                <c:pt idx="3">
                  <c:v>Apr</c:v>
                </c:pt>
                <c:pt idx="4">
                  <c:v>May</c:v>
                </c:pt>
                <c:pt idx="5">
                  <c:v>Jun</c:v>
                </c:pt>
              </c:strCache>
            </c:strRef>
          </c:cat>
          <c:val>
            <c:numRef>
              <c:f>'Revenue by Store Location'!$B$5:$B$11</c:f>
              <c:numCache>
                <c:formatCode>_("R"* #,##0.00_);_("R"* \(#,##0.00\);_("R"* "-"??_);_(@_)</c:formatCode>
                <c:ptCount val="6"/>
                <c:pt idx="0">
                  <c:v>27313.660000000076</c:v>
                </c:pt>
                <c:pt idx="1">
                  <c:v>25105.340000000077</c:v>
                </c:pt>
                <c:pt idx="2">
                  <c:v>32835.430000000029</c:v>
                </c:pt>
                <c:pt idx="3">
                  <c:v>39477.609999999833</c:v>
                </c:pt>
                <c:pt idx="4">
                  <c:v>52428.759999999318</c:v>
                </c:pt>
                <c:pt idx="5">
                  <c:v>55083.109999999266</c:v>
                </c:pt>
              </c:numCache>
            </c:numRef>
          </c:val>
          <c:extLst>
            <c:ext xmlns:c16="http://schemas.microsoft.com/office/drawing/2014/chart" uri="{C3380CC4-5D6E-409C-BE32-E72D297353CC}">
              <c16:uniqueId val="{00000000-71F0-4BCF-B2F5-0BCF670C4DB3}"/>
            </c:ext>
          </c:extLst>
        </c:ser>
        <c:ser>
          <c:idx val="1"/>
          <c:order val="1"/>
          <c:tx>
            <c:strRef>
              <c:f>'Revenue by Store Location'!$C$3:$C$4</c:f>
              <c:strCache>
                <c:ptCount val="1"/>
                <c:pt idx="0">
                  <c:v>Hell's Kitchen</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cat>
            <c:strRef>
              <c:f>'Revenue by Store Location'!$A$5:$A$11</c:f>
              <c:strCache>
                <c:ptCount val="6"/>
                <c:pt idx="0">
                  <c:v>Jan</c:v>
                </c:pt>
                <c:pt idx="1">
                  <c:v>Feb</c:v>
                </c:pt>
                <c:pt idx="2">
                  <c:v>Mar</c:v>
                </c:pt>
                <c:pt idx="3">
                  <c:v>Apr</c:v>
                </c:pt>
                <c:pt idx="4">
                  <c:v>May</c:v>
                </c:pt>
                <c:pt idx="5">
                  <c:v>Jun</c:v>
                </c:pt>
              </c:strCache>
            </c:strRef>
          </c:cat>
          <c:val>
            <c:numRef>
              <c:f>'Revenue by Store Location'!$C$5:$C$11</c:f>
              <c:numCache>
                <c:formatCode>_("R"* #,##0.00_);_("R"* \(#,##0.00\);_("R"* "-"??_);_(@_)</c:formatCode>
                <c:ptCount val="6"/>
                <c:pt idx="0">
                  <c:v>27820.649999999969</c:v>
                </c:pt>
                <c:pt idx="1">
                  <c:v>25719.799999999963</c:v>
                </c:pt>
                <c:pt idx="2">
                  <c:v>33110.569999999854</c:v>
                </c:pt>
                <c:pt idx="3">
                  <c:v>40304.139999999745</c:v>
                </c:pt>
                <c:pt idx="4">
                  <c:v>52598.929999999375</c:v>
                </c:pt>
                <c:pt idx="5">
                  <c:v>56957.079999999347</c:v>
                </c:pt>
              </c:numCache>
            </c:numRef>
          </c:val>
          <c:extLst>
            <c:ext xmlns:c16="http://schemas.microsoft.com/office/drawing/2014/chart" uri="{C3380CC4-5D6E-409C-BE32-E72D297353CC}">
              <c16:uniqueId val="{00000001-71F0-4BCF-B2F5-0BCF670C4DB3}"/>
            </c:ext>
          </c:extLst>
        </c:ser>
        <c:ser>
          <c:idx val="2"/>
          <c:order val="2"/>
          <c:tx>
            <c:strRef>
              <c:f>'Revenue by Store Location'!$D$3:$D$4</c:f>
              <c:strCache>
                <c:ptCount val="1"/>
                <c:pt idx="0">
                  <c:v>Lower Manhattan</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cat>
            <c:strRef>
              <c:f>'Revenue by Store Location'!$A$5:$A$11</c:f>
              <c:strCache>
                <c:ptCount val="6"/>
                <c:pt idx="0">
                  <c:v>Jan</c:v>
                </c:pt>
                <c:pt idx="1">
                  <c:v>Feb</c:v>
                </c:pt>
                <c:pt idx="2">
                  <c:v>Mar</c:v>
                </c:pt>
                <c:pt idx="3">
                  <c:v>Apr</c:v>
                </c:pt>
                <c:pt idx="4">
                  <c:v>May</c:v>
                </c:pt>
                <c:pt idx="5">
                  <c:v>Jun</c:v>
                </c:pt>
              </c:strCache>
            </c:strRef>
          </c:cat>
          <c:val>
            <c:numRef>
              <c:f>'Revenue by Store Location'!$D$5:$D$11</c:f>
              <c:numCache>
                <c:formatCode>_("R"* #,##0.00_);_("R"* \(#,##0.00\);_("R"* "-"??_);_(@_)</c:formatCode>
                <c:ptCount val="6"/>
                <c:pt idx="0">
                  <c:v>26543.429999999942</c:v>
                </c:pt>
                <c:pt idx="1">
                  <c:v>25320.049999999905</c:v>
                </c:pt>
                <c:pt idx="2">
                  <c:v>32888.679999999811</c:v>
                </c:pt>
                <c:pt idx="3">
                  <c:v>39159.329999999653</c:v>
                </c:pt>
                <c:pt idx="4">
                  <c:v>51700.069999999592</c:v>
                </c:pt>
                <c:pt idx="5">
                  <c:v>54445.689999999653</c:v>
                </c:pt>
              </c:numCache>
            </c:numRef>
          </c:val>
          <c:extLst>
            <c:ext xmlns:c16="http://schemas.microsoft.com/office/drawing/2014/chart" uri="{C3380CC4-5D6E-409C-BE32-E72D297353CC}">
              <c16:uniqueId val="{00000002-71F0-4BCF-B2F5-0BCF670C4DB3}"/>
            </c:ext>
          </c:extLst>
        </c:ser>
        <c:dLbls>
          <c:showLegendKey val="0"/>
          <c:showVal val="0"/>
          <c:showCatName val="0"/>
          <c:showSerName val="0"/>
          <c:showPercent val="0"/>
          <c:showBubbleSize val="0"/>
        </c:dLbls>
        <c:gapWidth val="100"/>
        <c:overlap val="-24"/>
        <c:axId val="191916048"/>
        <c:axId val="191915088"/>
      </c:barChart>
      <c:catAx>
        <c:axId val="191916048"/>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r>
                  <a:rPr lang="en-ZA"/>
                  <a:t>Month</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91915088"/>
        <c:crosses val="autoZero"/>
        <c:auto val="1"/>
        <c:lblAlgn val="ctr"/>
        <c:lblOffset val="100"/>
        <c:noMultiLvlLbl val="0"/>
      </c:catAx>
      <c:valAx>
        <c:axId val="19191508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r>
                  <a:rPr lang="en-ZA"/>
                  <a:t>Revenue</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title>
        <c:numFmt formatCode="_(&quot;R&quot;* #,##0.00_);_(&quot;R&quot;* \(#,##0.00\);_(&quot;R&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919160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entury Gothic" panose="020B050202020202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[Bright Coffee Shop Analysis.xlsx]Revenue by Spend Buckets!PivotTable6</c:name>
    <c:fmtId val="23"/>
  </c:pivotSource>
  <c:chart>
    <c:autoTitleDeleted val="1"/>
    <c:pivotFmts>
      <c:pivotFmt>
        <c:idx val="0"/>
        <c:spPr>
          <a:solidFill>
            <a:schemeClr val="accent2"/>
          </a:solidFill>
          <a:ln>
            <a:noFill/>
          </a:ln>
          <a:effectLst/>
          <a:scene3d>
            <a:camera prst="orthographicFront"/>
            <a:lightRig rig="brightRoom" dir="t"/>
          </a:scene3d>
          <a:sp3d prstMaterial="flat">
            <a:bevelT w="50800" h="101600" prst="angle"/>
            <a:contourClr>
              <a:srgbClr val="000000"/>
            </a:contourClr>
          </a:sp3d>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2"/>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
        <c:spPr>
          <a:solidFill>
            <a:schemeClr val="accent2"/>
          </a:solidFill>
          <a:ln>
            <a:noFill/>
          </a:ln>
          <a:effectLst/>
          <a:scene3d>
            <a:camera prst="orthographicFront"/>
            <a:lightRig rig="brightRoom" dir="t"/>
          </a:scene3d>
          <a:sp3d prstMaterial="flat">
            <a:bevelT w="50800" h="101600" prst="angle"/>
            <a:contourClr>
              <a:srgbClr val="000000"/>
            </a:contourClr>
          </a:sp3d>
        </c:spPr>
      </c:pivotFmt>
      <c:pivotFmt>
        <c:idx val="3"/>
        <c:spPr>
          <a:solidFill>
            <a:schemeClr val="accent2"/>
          </a:solidFill>
          <a:ln>
            <a:noFill/>
          </a:ln>
          <a:effectLst/>
          <a:scene3d>
            <a:camera prst="orthographicFront"/>
            <a:lightRig rig="brightRoom" dir="t"/>
          </a:scene3d>
          <a:sp3d prstMaterial="flat">
            <a:bevelT w="50800" h="101600" prst="angle"/>
            <a:contourClr>
              <a:srgbClr val="000000"/>
            </a:contourClr>
          </a:sp3d>
        </c:spPr>
      </c:pivotFmt>
      <c:pivotFmt>
        <c:idx val="4"/>
        <c:spPr>
          <a:solidFill>
            <a:schemeClr val="accent2"/>
          </a:solidFill>
          <a:ln>
            <a:noFill/>
          </a:ln>
          <a:effectLst/>
          <a:scene3d>
            <a:camera prst="orthographicFront"/>
            <a:lightRig rig="brightRoom" dir="t"/>
          </a:scene3d>
          <a:sp3d prstMaterial="flat">
            <a:bevelT w="50800" h="101600" prst="angle"/>
            <a:contourClr>
              <a:srgbClr val="000000"/>
            </a:contourClr>
          </a:sp3d>
        </c:spPr>
      </c:pivotFmt>
      <c:pivotFmt>
        <c:idx val="5"/>
        <c:spPr>
          <a:solidFill>
            <a:schemeClr val="accent2"/>
          </a:solidFill>
          <a:ln>
            <a:noFill/>
          </a:ln>
          <a:effectLst/>
          <a:scene3d>
            <a:camera prst="orthographicFront"/>
            <a:lightRig rig="brightRoom" dir="t"/>
          </a:scene3d>
          <a:sp3d prstMaterial="flat">
            <a:bevelT w="50800" h="101600" prst="angle"/>
            <a:contourClr>
              <a:srgbClr val="000000"/>
            </a:contourClr>
          </a:sp3d>
        </c:spPr>
      </c:pivotFmt>
      <c:pivotFmt>
        <c:idx val="6"/>
        <c:spPr>
          <a:solidFill>
            <a:schemeClr val="accent2"/>
          </a:solidFill>
          <a:ln>
            <a:noFill/>
          </a:ln>
          <a:effectLst/>
          <a:scene3d>
            <a:camera prst="orthographicFront"/>
            <a:lightRig rig="brightRoom" dir="t"/>
          </a:scene3d>
          <a:sp3d prstMaterial="flat">
            <a:bevelT w="50800" h="101600" prst="angle"/>
            <a:contourClr>
              <a:srgbClr val="000000"/>
            </a:contourClr>
          </a:sp3d>
        </c:spPr>
      </c:pivotFmt>
      <c:pivotFmt>
        <c:idx val="7"/>
        <c:spPr>
          <a:solidFill>
            <a:schemeClr val="accent2"/>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8"/>
        <c:spPr>
          <a:solidFill>
            <a:schemeClr val="accent2"/>
          </a:solidFill>
          <a:ln>
            <a:noFill/>
          </a:ln>
          <a:effectLst/>
          <a:scene3d>
            <a:camera prst="orthographicFront"/>
            <a:lightRig rig="brightRoom" dir="t"/>
          </a:scene3d>
          <a:sp3d prstMaterial="flat">
            <a:bevelT w="50800" h="101600" prst="angle"/>
            <a:contourClr>
              <a:srgbClr val="000000"/>
            </a:contourClr>
          </a:sp3d>
        </c:spPr>
      </c:pivotFmt>
      <c:pivotFmt>
        <c:idx val="9"/>
        <c:spPr>
          <a:solidFill>
            <a:schemeClr val="accent2"/>
          </a:solidFill>
          <a:ln>
            <a:noFill/>
          </a:ln>
          <a:effectLst/>
          <a:scene3d>
            <a:camera prst="orthographicFront"/>
            <a:lightRig rig="brightRoom" dir="t"/>
          </a:scene3d>
          <a:sp3d prstMaterial="flat">
            <a:bevelT w="50800" h="101600" prst="angle"/>
            <a:contourClr>
              <a:srgbClr val="000000"/>
            </a:contourClr>
          </a:sp3d>
        </c:spPr>
      </c:pivotFmt>
      <c:pivotFmt>
        <c:idx val="10"/>
        <c:spPr>
          <a:solidFill>
            <a:schemeClr val="accent2"/>
          </a:solidFill>
          <a:ln>
            <a:noFill/>
          </a:ln>
          <a:effectLst/>
          <a:scene3d>
            <a:camera prst="orthographicFront"/>
            <a:lightRig rig="brightRoom" dir="t"/>
          </a:scene3d>
          <a:sp3d prstMaterial="flat">
            <a:bevelT w="50800" h="101600" prst="angle"/>
            <a:contourClr>
              <a:srgbClr val="000000"/>
            </a:contourClr>
          </a:sp3d>
        </c:spPr>
      </c:pivotFmt>
      <c:pivotFmt>
        <c:idx val="11"/>
        <c:spPr>
          <a:solidFill>
            <a:schemeClr val="accent2"/>
          </a:solidFill>
          <a:ln>
            <a:noFill/>
          </a:ln>
          <a:effectLst/>
          <a:scene3d>
            <a:camera prst="orthographicFront"/>
            <a:lightRig rig="brightRoom" dir="t"/>
          </a:scene3d>
          <a:sp3d prstMaterial="flat">
            <a:bevelT w="50800" h="101600" prst="angle"/>
            <a:contourClr>
              <a:srgbClr val="000000"/>
            </a:contourClr>
          </a:sp3d>
        </c:spPr>
      </c:pivotFmt>
      <c:pivotFmt>
        <c:idx val="12"/>
        <c:spPr>
          <a:solidFill>
            <a:schemeClr val="accent2"/>
          </a:solidFill>
          <a:ln>
            <a:noFill/>
          </a:ln>
          <a:effectLst/>
          <a:scene3d>
            <a:camera prst="orthographicFront"/>
            <a:lightRig rig="brightRoom" dir="t"/>
          </a:scene3d>
          <a:sp3d prstMaterial="flat">
            <a:bevelT w="50800" h="101600" prst="angle"/>
            <a:contourClr>
              <a:srgbClr val="000000"/>
            </a:contourClr>
          </a:sp3d>
        </c:spPr>
      </c:pivotFmt>
    </c:pivotFmts>
    <c:plotArea>
      <c:layout>
        <c:manualLayout>
          <c:layoutTarget val="inner"/>
          <c:xMode val="edge"/>
          <c:yMode val="edge"/>
          <c:x val="7.2571622236626041E-2"/>
          <c:y val="4.4908798787646432E-3"/>
          <c:w val="0.5754616106516256"/>
          <c:h val="0.83955016850156872"/>
        </c:manualLayout>
      </c:layout>
      <c:doughnutChart>
        <c:varyColors val="1"/>
        <c:ser>
          <c:idx val="0"/>
          <c:order val="0"/>
          <c:tx>
            <c:strRef>
              <c:f>'Revenue by Spend Buckets'!$L$2</c:f>
              <c:strCache>
                <c:ptCount val="1"/>
                <c:pt idx="0">
                  <c:v>Total</c:v>
                </c:pt>
              </c:strCache>
            </c:strRef>
          </c:tx>
          <c:dPt>
            <c:idx val="0"/>
            <c:bubble3D val="0"/>
            <c:spPr>
              <a:solidFill>
                <a:schemeClr val="accent2"/>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E928-4919-9B54-2885A515A2EB}"/>
              </c:ext>
            </c:extLst>
          </c:dPt>
          <c:dPt>
            <c:idx val="1"/>
            <c:bubble3D val="0"/>
            <c:spPr>
              <a:solidFill>
                <a:schemeClr val="accent4"/>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E928-4919-9B54-2885A515A2EB}"/>
              </c:ext>
            </c:extLst>
          </c:dPt>
          <c:dPt>
            <c:idx val="2"/>
            <c:bubble3D val="0"/>
            <c:spPr>
              <a:solidFill>
                <a:schemeClr val="accent6"/>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E928-4919-9B54-2885A515A2EB}"/>
              </c:ext>
            </c:extLst>
          </c:dPt>
          <c:dPt>
            <c:idx val="3"/>
            <c:bubble3D val="0"/>
            <c:spPr>
              <a:solidFill>
                <a:schemeClr val="accent2">
                  <a:lumMod val="60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7-E928-4919-9B54-2885A515A2EB}"/>
              </c:ext>
            </c:extLst>
          </c:dPt>
          <c:dPt>
            <c:idx val="4"/>
            <c:bubble3D val="0"/>
            <c:spPr>
              <a:solidFill>
                <a:schemeClr val="accent4">
                  <a:lumMod val="60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9-E928-4919-9B54-2885A515A2EB}"/>
              </c:ext>
            </c:extLst>
          </c:dPt>
          <c:dLbls>
            <c:spPr>
              <a:noFill/>
              <a:ln>
                <a:noFill/>
              </a:ln>
              <a:effectLst/>
            </c:spPr>
            <c:txPr>
              <a:bodyPr rot="0" spcFirstLastPara="1" vertOverflow="ellipsis" vert="horz" wrap="square" anchor="ctr" anchorCtr="1"/>
              <a:lstStyle/>
              <a:p>
                <a:pPr>
                  <a:defRPr sz="1400" b="1" i="0" u="none" strike="noStrike" kern="1200" baseline="0">
                    <a:solidFill>
                      <a:schemeClr val="lt1"/>
                    </a:solidFill>
                    <a:latin typeface="Century Gothic" panose="020B0502020202020204" pitchFamily="34" charset="0"/>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'Revenue by Spend Buckets'!$K$3:$K$8</c:f>
              <c:strCache>
                <c:ptCount val="5"/>
                <c:pt idx="0">
                  <c:v>01. Rush hour</c:v>
                </c:pt>
                <c:pt idx="1">
                  <c:v>02. Mid Morning</c:v>
                </c:pt>
                <c:pt idx="2">
                  <c:v>03. Afternoon</c:v>
                </c:pt>
                <c:pt idx="3">
                  <c:v>04. Evening</c:v>
                </c:pt>
                <c:pt idx="4">
                  <c:v>05.Night</c:v>
                </c:pt>
              </c:strCache>
            </c:strRef>
          </c:cat>
          <c:val>
            <c:numRef>
              <c:f>'Revenue by Spend Buckets'!$L$3:$L$8</c:f>
              <c:numCache>
                <c:formatCode>0.00%</c:formatCode>
                <c:ptCount val="5"/>
                <c:pt idx="0">
                  <c:v>0.23927741801579422</c:v>
                </c:pt>
                <c:pt idx="1">
                  <c:v>0.31430643188565827</c:v>
                </c:pt>
                <c:pt idx="2">
                  <c:v>0.23302133206493336</c:v>
                </c:pt>
                <c:pt idx="3">
                  <c:v>0.11632602418448738</c:v>
                </c:pt>
                <c:pt idx="4">
                  <c:v>9.7068793849126811E-2</c:v>
                </c:pt>
              </c:numCache>
            </c:numRef>
          </c:val>
          <c:extLst>
            <c:ext xmlns:c16="http://schemas.microsoft.com/office/drawing/2014/chart" uri="{C3380CC4-5D6E-409C-BE32-E72D297353CC}">
              <c16:uniqueId val="{0000000A-E928-4919-9B54-2885A515A2EB}"/>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r"/>
      <c:layout>
        <c:manualLayout>
          <c:xMode val="edge"/>
          <c:yMode val="edge"/>
          <c:x val="0.65985774304780398"/>
          <c:y val="4.3528229103769064E-2"/>
          <c:w val="0.19987165270149843"/>
          <c:h val="0.22328027975282463"/>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entury Gothic" panose="020B050202020202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[Bright Coffee Shop Analysis.xlsx]Revenue by Spend Buckets!PivotTable5</c:name>
    <c:fmtId val="14"/>
  </c:pivotSource>
  <c:chart>
    <c:title>
      <c:tx>
        <c:rich>
          <a:bodyPr rot="0" spcFirstLastPara="1" vertOverflow="ellipsis" vert="horz" wrap="square" anchor="ctr" anchorCtr="1"/>
          <a:lstStyle/>
          <a:p>
            <a:pPr>
              <a:defRPr sz="2160" b="1" i="0" u="none" strike="noStrike" kern="1200" baseline="0">
                <a:solidFill>
                  <a:schemeClr val="tx1">
                    <a:lumMod val="65000"/>
                    <a:lumOff val="35000"/>
                  </a:schemeClr>
                </a:solidFill>
                <a:latin typeface="Century Gothic" panose="020B0502020202020204" pitchFamily="34" charset="0"/>
                <a:ea typeface="+mn-ea"/>
                <a:cs typeface="+mn-cs"/>
              </a:defRPr>
            </a:pPr>
            <a:r>
              <a:rPr lang="en-ZA"/>
              <a:t>Store Revenue By Spend Buckets</a:t>
            </a:r>
          </a:p>
        </c:rich>
      </c:tx>
      <c:overlay val="0"/>
      <c:spPr>
        <a:noFill/>
        <a:ln>
          <a:noFill/>
        </a:ln>
        <a:effectLst/>
      </c:spPr>
      <c:txPr>
        <a:bodyPr rot="0" spcFirstLastPara="1" vertOverflow="ellipsis" vert="horz" wrap="square" anchor="ctr" anchorCtr="1"/>
        <a:lstStyle/>
        <a:p>
          <a:pPr>
            <a:defRPr sz="2160" b="1"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title>
    <c:autoTitleDeleted val="0"/>
    <c:pivotFmts>
      <c:pivotFmt>
        <c:idx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diamond"/>
          <c:size val="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square"/>
          <c:size val="5"/>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triangle"/>
          <c:size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2109902758056882"/>
          <c:y val="8.8030303030303028E-2"/>
          <c:w val="0.68411514134503693"/>
          <c:h val="0.83697297780959201"/>
        </c:manualLayout>
      </c:layout>
      <c:barChart>
        <c:barDir val="bar"/>
        <c:grouping val="clustered"/>
        <c:varyColors val="0"/>
        <c:ser>
          <c:idx val="0"/>
          <c:order val="0"/>
          <c:tx>
            <c:strRef>
              <c:f>'Revenue by Spend Buckets'!$B$2:$B$3</c:f>
              <c:strCache>
                <c:ptCount val="1"/>
                <c:pt idx="0">
                  <c:v>Astoria</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cat>
            <c:strRef>
              <c:f>'Revenue by Spend Buckets'!$A$4:$A$9</c:f>
              <c:strCache>
                <c:ptCount val="5"/>
                <c:pt idx="0">
                  <c:v>01. Rush hour</c:v>
                </c:pt>
                <c:pt idx="1">
                  <c:v>02. Mid Morning</c:v>
                </c:pt>
                <c:pt idx="2">
                  <c:v>03. Afternoon</c:v>
                </c:pt>
                <c:pt idx="3">
                  <c:v>04. Evening</c:v>
                </c:pt>
                <c:pt idx="4">
                  <c:v>05.Night</c:v>
                </c:pt>
              </c:strCache>
            </c:strRef>
          </c:cat>
          <c:val>
            <c:numRef>
              <c:f>'Revenue by Spend Buckets'!$B$4:$B$9</c:f>
              <c:numCache>
                <c:formatCode>_("R"* #,##0.00_);_("R"* \(#,##0.00\);_("R"* "-"??_);_(@_)</c:formatCode>
                <c:ptCount val="5"/>
                <c:pt idx="0">
                  <c:v>41646.299999999865</c:v>
                </c:pt>
                <c:pt idx="1">
                  <c:v>62927.919999999183</c:v>
                </c:pt>
                <c:pt idx="2">
                  <c:v>62139.639999999221</c:v>
                </c:pt>
                <c:pt idx="3">
                  <c:v>31983.150000000092</c:v>
                </c:pt>
                <c:pt idx="4">
                  <c:v>33546.900000000132</c:v>
                </c:pt>
              </c:numCache>
            </c:numRef>
          </c:val>
          <c:extLst>
            <c:ext xmlns:c16="http://schemas.microsoft.com/office/drawing/2014/chart" uri="{C3380CC4-5D6E-409C-BE32-E72D297353CC}">
              <c16:uniqueId val="{00000000-39E0-4ADB-93D9-C99801279439}"/>
            </c:ext>
          </c:extLst>
        </c:ser>
        <c:ser>
          <c:idx val="1"/>
          <c:order val="1"/>
          <c:tx>
            <c:strRef>
              <c:f>'Revenue by Spend Buckets'!$C$2:$C$3</c:f>
              <c:strCache>
                <c:ptCount val="1"/>
                <c:pt idx="0">
                  <c:v>Hell's Kitchen</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cat>
            <c:strRef>
              <c:f>'Revenue by Spend Buckets'!$A$4:$A$9</c:f>
              <c:strCache>
                <c:ptCount val="5"/>
                <c:pt idx="0">
                  <c:v>01. Rush hour</c:v>
                </c:pt>
                <c:pt idx="1">
                  <c:v>02. Mid Morning</c:v>
                </c:pt>
                <c:pt idx="2">
                  <c:v>03. Afternoon</c:v>
                </c:pt>
                <c:pt idx="3">
                  <c:v>04. Evening</c:v>
                </c:pt>
                <c:pt idx="4">
                  <c:v>05.Night</c:v>
                </c:pt>
              </c:strCache>
            </c:strRef>
          </c:cat>
          <c:val>
            <c:numRef>
              <c:f>'Revenue by Spend Buckets'!$C$4:$C$9</c:f>
              <c:numCache>
                <c:formatCode>_("R"* #,##0.00_);_("R"* \(#,##0.00\);_("R"* "-"??_);_(@_)</c:formatCode>
                <c:ptCount val="5"/>
                <c:pt idx="0">
                  <c:v>54681.359999999513</c:v>
                </c:pt>
                <c:pt idx="1">
                  <c:v>84280.790000000095</c:v>
                </c:pt>
                <c:pt idx="2">
                  <c:v>46889.799999999639</c:v>
                </c:pt>
                <c:pt idx="3">
                  <c:v>24779.980000000043</c:v>
                </c:pt>
                <c:pt idx="4">
                  <c:v>25879.239999999994</c:v>
                </c:pt>
              </c:numCache>
            </c:numRef>
          </c:val>
          <c:extLst>
            <c:ext xmlns:c16="http://schemas.microsoft.com/office/drawing/2014/chart" uri="{C3380CC4-5D6E-409C-BE32-E72D297353CC}">
              <c16:uniqueId val="{00000001-39E0-4ADB-93D9-C99801279439}"/>
            </c:ext>
          </c:extLst>
        </c:ser>
        <c:ser>
          <c:idx val="2"/>
          <c:order val="2"/>
          <c:tx>
            <c:strRef>
              <c:f>'Revenue by Spend Buckets'!$D$2:$D$3</c:f>
              <c:strCache>
                <c:ptCount val="1"/>
                <c:pt idx="0">
                  <c:v>Lower Manhattan</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cat>
            <c:strRef>
              <c:f>'Revenue by Spend Buckets'!$A$4:$A$9</c:f>
              <c:strCache>
                <c:ptCount val="5"/>
                <c:pt idx="0">
                  <c:v>01. Rush hour</c:v>
                </c:pt>
                <c:pt idx="1">
                  <c:v>02. Mid Morning</c:v>
                </c:pt>
                <c:pt idx="2">
                  <c:v>03. Afternoon</c:v>
                </c:pt>
                <c:pt idx="3">
                  <c:v>04. Evening</c:v>
                </c:pt>
                <c:pt idx="4">
                  <c:v>05.Night</c:v>
                </c:pt>
              </c:strCache>
            </c:strRef>
          </c:cat>
          <c:val>
            <c:numRef>
              <c:f>'Revenue by Spend Buckets'!$D$4:$D$9</c:f>
              <c:numCache>
                <c:formatCode>_("R"* #,##0.00_);_("R"* \(#,##0.00\);_("R"* "-"??_);_(@_)</c:formatCode>
                <c:ptCount val="5"/>
                <c:pt idx="0">
                  <c:v>70882.349999999671</c:v>
                </c:pt>
                <c:pt idx="1">
                  <c:v>72432.500000000015</c:v>
                </c:pt>
                <c:pt idx="2">
                  <c:v>53808.739999999707</c:v>
                </c:pt>
                <c:pt idx="3">
                  <c:v>24526.929999999968</c:v>
                </c:pt>
                <c:pt idx="4">
                  <c:v>8406.7300000000105</c:v>
                </c:pt>
              </c:numCache>
            </c:numRef>
          </c:val>
          <c:extLst>
            <c:ext xmlns:c16="http://schemas.microsoft.com/office/drawing/2014/chart" uri="{C3380CC4-5D6E-409C-BE32-E72D297353CC}">
              <c16:uniqueId val="{00000002-39E0-4ADB-93D9-C99801279439}"/>
            </c:ext>
          </c:extLst>
        </c:ser>
        <c:dLbls>
          <c:showLegendKey val="0"/>
          <c:showVal val="0"/>
          <c:showCatName val="0"/>
          <c:showSerName val="0"/>
          <c:showPercent val="0"/>
          <c:showBubbleSize val="0"/>
        </c:dLbls>
        <c:gapWidth val="115"/>
        <c:overlap val="-20"/>
        <c:axId val="180523504"/>
        <c:axId val="180524464"/>
      </c:barChart>
      <c:catAx>
        <c:axId val="180523504"/>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80524464"/>
        <c:crosses val="autoZero"/>
        <c:auto val="1"/>
        <c:lblAlgn val="ctr"/>
        <c:lblOffset val="100"/>
        <c:noMultiLvlLbl val="0"/>
      </c:catAx>
      <c:valAx>
        <c:axId val="180524464"/>
        <c:scaling>
          <c:orientation val="minMax"/>
        </c:scaling>
        <c:delete val="0"/>
        <c:axPos val="b"/>
        <c:majorGridlines>
          <c:spPr>
            <a:ln w="9525" cap="flat" cmpd="sng" algn="ctr">
              <a:solidFill>
                <a:schemeClr val="tx1">
                  <a:lumMod val="15000"/>
                  <a:lumOff val="85000"/>
                </a:schemeClr>
              </a:solidFill>
              <a:round/>
            </a:ln>
            <a:effectLst/>
          </c:spPr>
        </c:majorGridlines>
        <c:numFmt formatCode="_(&quot;R&quot;* #,##0.00_);_(&quot;R&quot;* \(#,##0.00\);_(&quot;R&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80523504"/>
        <c:crosses val="autoZero"/>
        <c:crossBetween val="between"/>
      </c:valAx>
      <c:spPr>
        <a:noFill/>
        <a:ln>
          <a:noFill/>
        </a:ln>
        <a:effectLst/>
      </c:spPr>
    </c:plotArea>
    <c:legend>
      <c:legendPos val="r"/>
      <c:layout>
        <c:manualLayout>
          <c:xMode val="edge"/>
          <c:yMode val="edge"/>
          <c:x val="0.74586646443784688"/>
          <c:y val="8.1239113576711999E-2"/>
          <c:w val="0.25413353556215307"/>
          <c:h val="0.15471859341445957"/>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latin typeface="Century Gothic" panose="020B050202020202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[Bright Coffee Shop Analysis.xlsx] Revenue by Product Category !PivotTable3</c:name>
    <c:fmtId val="16"/>
  </c:pivotSource>
  <c:chart>
    <c:title>
      <c:tx>
        <c:rich>
          <a:bodyPr rot="0" spcFirstLastPara="1" vertOverflow="ellipsis" vert="horz" wrap="square" anchor="ctr" anchorCtr="1"/>
          <a:lstStyle/>
          <a:p>
            <a:pPr>
              <a:defRPr sz="1680" b="1" i="0" u="none" strike="noStrike" kern="1200" baseline="0">
                <a:solidFill>
                  <a:schemeClr val="tx1">
                    <a:lumMod val="65000"/>
                    <a:lumOff val="35000"/>
                  </a:schemeClr>
                </a:solidFill>
                <a:latin typeface="Century Gothic" panose="020B0502020202020204" pitchFamily="34" charset="0"/>
                <a:ea typeface="+mn-ea"/>
                <a:cs typeface="+mn-cs"/>
              </a:defRPr>
            </a:pPr>
            <a:r>
              <a:rPr lang="en-ZA"/>
              <a:t>Revenue by Product Category</a:t>
            </a:r>
          </a:p>
        </c:rich>
      </c:tx>
      <c:overlay val="0"/>
      <c:spPr>
        <a:noFill/>
        <a:ln>
          <a:noFill/>
        </a:ln>
        <a:effectLst/>
      </c:spPr>
      <c:txPr>
        <a:bodyPr rot="0" spcFirstLastPara="1" vertOverflow="ellipsis" vert="horz" wrap="square" anchor="ctr" anchorCtr="1"/>
        <a:lstStyle/>
        <a:p>
          <a:pPr>
            <a:defRPr sz="1680" b="1"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title>
    <c:autoTitleDeleted val="0"/>
    <c:pivotFmts>
      <c:pivotFmt>
        <c:idx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 Revenue by Product Category '!$B$3:$B$4</c:f>
              <c:strCache>
                <c:ptCount val="1"/>
                <c:pt idx="0">
                  <c:v>Astoria</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cat>
            <c:strRef>
              <c:f>' Revenue by Product Category '!$A$5:$A$14</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 Revenue by Product Category '!$B$5:$B$14</c:f>
              <c:numCache>
                <c:formatCode>_-[$R-1C09]* #\ ##0.00_-;\-[$R-1C09]* #\ ##0.00_-;_-[$R-1C09]* "-"??_-;_-@_-</c:formatCode>
                <c:ptCount val="9"/>
                <c:pt idx="0">
                  <c:v>26599.75</c:v>
                </c:pt>
                <c:pt idx="1">
                  <c:v>5457</c:v>
                </c:pt>
                <c:pt idx="2">
                  <c:v>89744.29999999571</c:v>
                </c:pt>
                <c:pt idx="3">
                  <c:v>10219.200000000001</c:v>
                </c:pt>
                <c:pt idx="4">
                  <c:v>26335.25</c:v>
                </c:pt>
                <c:pt idx="5">
                  <c:v>1764.7999999999561</c:v>
                </c:pt>
                <c:pt idx="6">
                  <c:v>3193.9999999999891</c:v>
                </c:pt>
                <c:pt idx="7">
                  <c:v>1089.7100000000009</c:v>
                </c:pt>
                <c:pt idx="8">
                  <c:v>67839.899999998961</c:v>
                </c:pt>
              </c:numCache>
            </c:numRef>
          </c:val>
          <c:extLst>
            <c:ext xmlns:c16="http://schemas.microsoft.com/office/drawing/2014/chart" uri="{C3380CC4-5D6E-409C-BE32-E72D297353CC}">
              <c16:uniqueId val="{00000000-4664-4130-ADD5-820A6B2D03A2}"/>
            </c:ext>
          </c:extLst>
        </c:ser>
        <c:ser>
          <c:idx val="1"/>
          <c:order val="1"/>
          <c:tx>
            <c:strRef>
              <c:f>' Revenue by Product Category '!$C$3:$C$4</c:f>
              <c:strCache>
                <c:ptCount val="1"/>
                <c:pt idx="0">
                  <c:v>Hell's Kitchen</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cat>
            <c:strRef>
              <c:f>' Revenue by Product Category '!$A$5:$A$14</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 Revenue by Product Category '!$C$5:$C$14</c:f>
              <c:numCache>
                <c:formatCode>_-[$R-1C09]* #\ ##0.00_-;\-[$R-1C09]* #\ ##0.00_-;_-[$R-1C09]* "-"??_-;_-@_-</c:formatCode>
                <c:ptCount val="9"/>
                <c:pt idx="0">
                  <c:v>27386.950000000012</c:v>
                </c:pt>
                <c:pt idx="1">
                  <c:v>1942</c:v>
                </c:pt>
                <c:pt idx="2">
                  <c:v>91222.649999996574</c:v>
                </c:pt>
                <c:pt idx="3">
                  <c:v>18635.10000000002</c:v>
                </c:pt>
                <c:pt idx="4">
                  <c:v>23586.25</c:v>
                </c:pt>
                <c:pt idx="5">
                  <c:v>2876.7999999999688</c:v>
                </c:pt>
                <c:pt idx="6">
                  <c:v>4461.3499999999694</c:v>
                </c:pt>
                <c:pt idx="7">
                  <c:v>1698.7699999999986</c:v>
                </c:pt>
                <c:pt idx="8">
                  <c:v>64701.299999999093</c:v>
                </c:pt>
              </c:numCache>
            </c:numRef>
          </c:val>
          <c:extLst>
            <c:ext xmlns:c16="http://schemas.microsoft.com/office/drawing/2014/chart" uri="{C3380CC4-5D6E-409C-BE32-E72D297353CC}">
              <c16:uniqueId val="{00000001-4664-4130-ADD5-820A6B2D03A2}"/>
            </c:ext>
          </c:extLst>
        </c:ser>
        <c:ser>
          <c:idx val="2"/>
          <c:order val="2"/>
          <c:tx>
            <c:strRef>
              <c:f>' Revenue by Product Category '!$D$3:$D$4</c:f>
              <c:strCache>
                <c:ptCount val="1"/>
                <c:pt idx="0">
                  <c:v>Lower Manhattan</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invertIfNegative val="0"/>
          <c:cat>
            <c:strRef>
              <c:f>' Revenue by Product Category '!$A$5:$A$14</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 Revenue by Product Category '!$D$5:$D$14</c:f>
              <c:numCache>
                <c:formatCode>_-[$R-1C09]* #\ ##0.00_-;\-[$R-1C09]* #\ ##0.00_-;_-[$R-1C09]* "-"??_-;_-@_-</c:formatCode>
                <c:ptCount val="9"/>
                <c:pt idx="0">
                  <c:v>28328.940000000075</c:v>
                </c:pt>
                <c:pt idx="1">
                  <c:v>6208</c:v>
                </c:pt>
                <c:pt idx="2">
                  <c:v>88985.499999997002</c:v>
                </c:pt>
                <c:pt idx="3">
                  <c:v>11230.950000000004</c:v>
                </c:pt>
                <c:pt idx="4">
                  <c:v>22494.5</c:v>
                </c:pt>
                <c:pt idx="5">
                  <c:v>3767.1999999999962</c:v>
                </c:pt>
                <c:pt idx="6">
                  <c:v>3558.2499999999859</c:v>
                </c:pt>
                <c:pt idx="7">
                  <c:v>1619.1599999999978</c:v>
                </c:pt>
                <c:pt idx="8">
                  <c:v>63864.749999999272</c:v>
                </c:pt>
              </c:numCache>
            </c:numRef>
          </c:val>
          <c:extLst>
            <c:ext xmlns:c16="http://schemas.microsoft.com/office/drawing/2014/chart" uri="{C3380CC4-5D6E-409C-BE32-E72D297353CC}">
              <c16:uniqueId val="{00000002-4664-4130-ADD5-820A6B2D03A2}"/>
            </c:ext>
          </c:extLst>
        </c:ser>
        <c:dLbls>
          <c:showLegendKey val="0"/>
          <c:showVal val="0"/>
          <c:showCatName val="0"/>
          <c:showSerName val="0"/>
          <c:showPercent val="0"/>
          <c:showBubbleSize val="0"/>
        </c:dLbls>
        <c:gapWidth val="100"/>
        <c:overlap val="-24"/>
        <c:axId val="885243039"/>
        <c:axId val="885241119"/>
      </c:barChart>
      <c:catAx>
        <c:axId val="885243039"/>
        <c:scaling>
          <c:orientation val="minMax"/>
        </c:scaling>
        <c:delete val="0"/>
        <c:axPos val="b"/>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r>
                  <a:rPr lang="en-ZA"/>
                  <a:t>Product Category</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885241119"/>
        <c:crosses val="autoZero"/>
        <c:auto val="1"/>
        <c:lblAlgn val="ctr"/>
        <c:lblOffset val="100"/>
        <c:noMultiLvlLbl val="0"/>
      </c:catAx>
      <c:valAx>
        <c:axId val="88524111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r>
                  <a:rPr lang="en-ZA"/>
                  <a:t>Revenue</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title>
        <c:numFmt formatCode="_-[$R-1C09]* #\ ##0.00_-;\-[$R-1C09]* #\ ##0.00_-;_-[$R-1C09]* &quot;-&quot;??_-;_-@_-"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88524303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entury Gothic" panose="020B050202020202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[Bright Coffee Shop Analysis.xlsx] Revenue by Product Category !PivotTable11</c:name>
    <c:fmtId val="38"/>
  </c:pivotSource>
  <c:chart>
    <c:title>
      <c:tx>
        <c:rich>
          <a:bodyPr rot="0" spcFirstLastPara="1" vertOverflow="ellipsis" vert="horz" wrap="square" anchor="ctr" anchorCtr="1"/>
          <a:lstStyle/>
          <a:p>
            <a:pPr>
              <a:defRPr sz="1680" b="1" i="0" u="none" strike="noStrike" kern="1200" baseline="0">
                <a:solidFill>
                  <a:schemeClr val="tx1">
                    <a:lumMod val="65000"/>
                    <a:lumOff val="35000"/>
                  </a:schemeClr>
                </a:solidFill>
                <a:latin typeface="Century Gothic" panose="020B0502020202020204" pitchFamily="34" charset="0"/>
                <a:ea typeface="+mn-ea"/>
                <a:cs typeface="+mn-cs"/>
              </a:defRPr>
            </a:pPr>
            <a:r>
              <a:rPr lang="en-US"/>
              <a:t>Product Performance</a:t>
            </a:r>
          </a:p>
        </c:rich>
      </c:tx>
      <c:overlay val="0"/>
      <c:spPr>
        <a:noFill/>
        <a:ln>
          <a:noFill/>
        </a:ln>
        <a:effectLst/>
      </c:spPr>
      <c:txPr>
        <a:bodyPr rot="0" spcFirstLastPara="1" vertOverflow="ellipsis" vert="horz" wrap="square" anchor="ctr" anchorCtr="1"/>
        <a:lstStyle/>
        <a:p>
          <a:pPr>
            <a:defRPr sz="1680" b="1"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title>
    <c:autoTitleDeleted val="0"/>
    <c:pivotFmts>
      <c:pivotFmt>
        <c:idx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8"/>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9"/>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1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1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1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1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1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1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1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18"/>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19"/>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2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2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2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2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2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2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2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28"/>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29"/>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3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3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3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3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3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3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3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3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38"/>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39"/>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4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4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4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4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4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4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4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4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48"/>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49"/>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5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5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5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5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5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5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5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5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58"/>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59"/>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6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6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
        <c:idx val="6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4.6056016646567825E-2"/>
          <c:y val="0.19303743518927513"/>
          <c:w val="0.71685665980941571"/>
          <c:h val="0.73158555472546316"/>
        </c:manualLayout>
      </c:layout>
      <c:pie3DChart>
        <c:varyColors val="1"/>
        <c:ser>
          <c:idx val="0"/>
          <c:order val="0"/>
          <c:tx>
            <c:strRef>
              <c:f>' Revenue by Product Category '!$B$77:$B$78</c:f>
              <c:strCache>
                <c:ptCount val="1"/>
                <c:pt idx="0">
                  <c:v>Astoria</c:v>
                </c:pt>
              </c:strCache>
            </c:strRef>
          </c:tx>
          <c:dPt>
            <c:idx val="0"/>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01-6085-4C43-AD77-EE95FB526B4C}"/>
              </c:ext>
            </c:extLst>
          </c:dPt>
          <c:dPt>
            <c:idx val="1"/>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03-6085-4C43-AD77-EE95FB526B4C}"/>
              </c:ext>
            </c:extLst>
          </c:dPt>
          <c:dPt>
            <c:idx val="2"/>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05-6085-4C43-AD77-EE95FB526B4C}"/>
              </c:ext>
            </c:extLst>
          </c:dPt>
          <c:dPt>
            <c:idx val="3"/>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07-6085-4C43-AD77-EE95FB526B4C}"/>
              </c:ext>
            </c:extLst>
          </c:dPt>
          <c:dPt>
            <c:idx val="4"/>
            <c:bubble3D val="0"/>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09-6085-4C43-AD77-EE95FB526B4C}"/>
              </c:ext>
            </c:extLst>
          </c:dPt>
          <c:dPt>
            <c:idx val="5"/>
            <c:bubble3D val="0"/>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0B-6085-4C43-AD77-EE95FB526B4C}"/>
              </c:ext>
            </c:extLst>
          </c:dPt>
          <c:dPt>
            <c:idx val="6"/>
            <c:bubble3D val="0"/>
            <c:spPr>
              <a:gradFill rotWithShape="1">
                <a:gsLst>
                  <a:gs pos="0">
                    <a:schemeClr val="accent2">
                      <a:lumMod val="80000"/>
                      <a:lumOff val="20000"/>
                      <a:satMod val="103000"/>
                      <a:lumMod val="102000"/>
                      <a:tint val="94000"/>
                    </a:schemeClr>
                  </a:gs>
                  <a:gs pos="50000">
                    <a:schemeClr val="accent2">
                      <a:lumMod val="80000"/>
                      <a:lumOff val="20000"/>
                      <a:satMod val="110000"/>
                      <a:lumMod val="100000"/>
                      <a:shade val="100000"/>
                    </a:schemeClr>
                  </a:gs>
                  <a:gs pos="100000">
                    <a:schemeClr val="accent2">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0D-6085-4C43-AD77-EE95FB526B4C}"/>
              </c:ext>
            </c:extLst>
          </c:dPt>
          <c:dPt>
            <c:idx val="7"/>
            <c:bubble3D val="0"/>
            <c:spPr>
              <a:gradFill rotWithShape="1">
                <a:gsLst>
                  <a:gs pos="0">
                    <a:schemeClr val="accent4">
                      <a:lumMod val="80000"/>
                      <a:lumOff val="20000"/>
                      <a:satMod val="103000"/>
                      <a:lumMod val="102000"/>
                      <a:tint val="94000"/>
                    </a:schemeClr>
                  </a:gs>
                  <a:gs pos="50000">
                    <a:schemeClr val="accent4">
                      <a:lumMod val="80000"/>
                      <a:lumOff val="20000"/>
                      <a:satMod val="110000"/>
                      <a:lumMod val="100000"/>
                      <a:shade val="100000"/>
                    </a:schemeClr>
                  </a:gs>
                  <a:gs pos="100000">
                    <a:schemeClr val="accent4">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0F-6085-4C43-AD77-EE95FB526B4C}"/>
              </c:ext>
            </c:extLst>
          </c:dPt>
          <c:dPt>
            <c:idx val="8"/>
            <c:bubble3D val="0"/>
            <c:spPr>
              <a:gradFill rotWithShape="1">
                <a:gsLst>
                  <a:gs pos="0">
                    <a:schemeClr val="accent6">
                      <a:lumMod val="80000"/>
                      <a:lumOff val="20000"/>
                      <a:satMod val="103000"/>
                      <a:lumMod val="102000"/>
                      <a:tint val="94000"/>
                    </a:schemeClr>
                  </a:gs>
                  <a:gs pos="50000">
                    <a:schemeClr val="accent6">
                      <a:lumMod val="80000"/>
                      <a:lumOff val="20000"/>
                      <a:satMod val="110000"/>
                      <a:lumMod val="100000"/>
                      <a:shade val="100000"/>
                    </a:schemeClr>
                  </a:gs>
                  <a:gs pos="100000">
                    <a:schemeClr val="accent6">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11-6085-4C43-AD77-EE95FB526B4C}"/>
              </c:ext>
            </c:extLst>
          </c:dPt>
          <c:dLbls>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Century Gothic" panose="020B0502020202020204" pitchFamily="34" charset="0"/>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 Revenue by Product Category '!$A$79:$A$88</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 Revenue by Product Category '!$B$79:$B$88</c:f>
              <c:numCache>
                <c:formatCode>0.00%</c:formatCode>
                <c:ptCount val="9"/>
                <c:pt idx="0">
                  <c:v>3.806422534072991E-2</c:v>
                </c:pt>
                <c:pt idx="1">
                  <c:v>7.8089635310242805E-3</c:v>
                </c:pt>
                <c:pt idx="2">
                  <c:v>0.1284240362501867</c:v>
                </c:pt>
                <c:pt idx="3">
                  <c:v>1.4623668703727933E-2</c:v>
                </c:pt>
                <c:pt idx="4">
                  <c:v>3.7685726008870657E-2</c:v>
                </c:pt>
                <c:pt idx="5">
                  <c:v>2.5254276781292483E-3</c:v>
                </c:pt>
                <c:pt idx="6">
                  <c:v>4.5706119695971166E-3</c:v>
                </c:pt>
                <c:pt idx="7">
                  <c:v>1.5593743172791783E-3</c:v>
                </c:pt>
                <c:pt idx="8">
                  <c:v>9.7078853774661161E-2</c:v>
                </c:pt>
              </c:numCache>
            </c:numRef>
          </c:val>
          <c:extLst>
            <c:ext xmlns:c16="http://schemas.microsoft.com/office/drawing/2014/chart" uri="{C3380CC4-5D6E-409C-BE32-E72D297353CC}">
              <c16:uniqueId val="{00000012-6085-4C43-AD77-EE95FB526B4C}"/>
            </c:ext>
          </c:extLst>
        </c:ser>
        <c:ser>
          <c:idx val="1"/>
          <c:order val="1"/>
          <c:tx>
            <c:strRef>
              <c:f>' Revenue by Product Category '!$C$77:$C$78</c:f>
              <c:strCache>
                <c:ptCount val="1"/>
                <c:pt idx="0">
                  <c:v>Hell's Kitchen</c:v>
                </c:pt>
              </c:strCache>
            </c:strRef>
          </c:tx>
          <c:dPt>
            <c:idx val="0"/>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14-6085-4C43-AD77-EE95FB526B4C}"/>
              </c:ext>
            </c:extLst>
          </c:dPt>
          <c:dPt>
            <c:idx val="1"/>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16-6085-4C43-AD77-EE95FB526B4C}"/>
              </c:ext>
            </c:extLst>
          </c:dPt>
          <c:dPt>
            <c:idx val="2"/>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18-6085-4C43-AD77-EE95FB526B4C}"/>
              </c:ext>
            </c:extLst>
          </c:dPt>
          <c:dPt>
            <c:idx val="3"/>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1A-6085-4C43-AD77-EE95FB526B4C}"/>
              </c:ext>
            </c:extLst>
          </c:dPt>
          <c:dPt>
            <c:idx val="4"/>
            <c:bubble3D val="0"/>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1C-6085-4C43-AD77-EE95FB526B4C}"/>
              </c:ext>
            </c:extLst>
          </c:dPt>
          <c:dPt>
            <c:idx val="5"/>
            <c:bubble3D val="0"/>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1E-6085-4C43-AD77-EE95FB526B4C}"/>
              </c:ext>
            </c:extLst>
          </c:dPt>
          <c:dPt>
            <c:idx val="6"/>
            <c:bubble3D val="0"/>
            <c:spPr>
              <a:gradFill rotWithShape="1">
                <a:gsLst>
                  <a:gs pos="0">
                    <a:schemeClr val="accent2">
                      <a:lumMod val="80000"/>
                      <a:lumOff val="20000"/>
                      <a:satMod val="103000"/>
                      <a:lumMod val="102000"/>
                      <a:tint val="94000"/>
                    </a:schemeClr>
                  </a:gs>
                  <a:gs pos="50000">
                    <a:schemeClr val="accent2">
                      <a:lumMod val="80000"/>
                      <a:lumOff val="20000"/>
                      <a:satMod val="110000"/>
                      <a:lumMod val="100000"/>
                      <a:shade val="100000"/>
                    </a:schemeClr>
                  </a:gs>
                  <a:gs pos="100000">
                    <a:schemeClr val="accent2">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20-6085-4C43-AD77-EE95FB526B4C}"/>
              </c:ext>
            </c:extLst>
          </c:dPt>
          <c:dPt>
            <c:idx val="7"/>
            <c:bubble3D val="0"/>
            <c:spPr>
              <a:gradFill rotWithShape="1">
                <a:gsLst>
                  <a:gs pos="0">
                    <a:schemeClr val="accent4">
                      <a:lumMod val="80000"/>
                      <a:lumOff val="20000"/>
                      <a:satMod val="103000"/>
                      <a:lumMod val="102000"/>
                      <a:tint val="94000"/>
                    </a:schemeClr>
                  </a:gs>
                  <a:gs pos="50000">
                    <a:schemeClr val="accent4">
                      <a:lumMod val="80000"/>
                      <a:lumOff val="20000"/>
                      <a:satMod val="110000"/>
                      <a:lumMod val="100000"/>
                      <a:shade val="100000"/>
                    </a:schemeClr>
                  </a:gs>
                  <a:gs pos="100000">
                    <a:schemeClr val="accent4">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22-6085-4C43-AD77-EE95FB526B4C}"/>
              </c:ext>
            </c:extLst>
          </c:dPt>
          <c:dPt>
            <c:idx val="8"/>
            <c:bubble3D val="0"/>
            <c:spPr>
              <a:gradFill rotWithShape="1">
                <a:gsLst>
                  <a:gs pos="0">
                    <a:schemeClr val="accent6">
                      <a:lumMod val="80000"/>
                      <a:lumOff val="20000"/>
                      <a:satMod val="103000"/>
                      <a:lumMod val="102000"/>
                      <a:tint val="94000"/>
                    </a:schemeClr>
                  </a:gs>
                  <a:gs pos="50000">
                    <a:schemeClr val="accent6">
                      <a:lumMod val="80000"/>
                      <a:lumOff val="20000"/>
                      <a:satMod val="110000"/>
                      <a:lumMod val="100000"/>
                      <a:shade val="100000"/>
                    </a:schemeClr>
                  </a:gs>
                  <a:gs pos="100000">
                    <a:schemeClr val="accent6">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24-6085-4C43-AD77-EE95FB526B4C}"/>
              </c:ext>
            </c:extLst>
          </c:dPt>
          <c:dLbls>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Century Gothic" panose="020B0502020202020204" pitchFamily="34" charset="0"/>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 Revenue by Product Category '!$A$79:$A$88</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 Revenue by Product Category '!$C$79:$C$88</c:f>
              <c:numCache>
                <c:formatCode>0.00%</c:formatCode>
                <c:ptCount val="9"/>
                <c:pt idx="0">
                  <c:v>3.9190708040312536E-2</c:v>
                </c:pt>
                <c:pt idx="1">
                  <c:v>2.7790007654845432E-3</c:v>
                </c:pt>
                <c:pt idx="2">
                  <c:v>0.13053955416041146</c:v>
                </c:pt>
                <c:pt idx="3">
                  <c:v>2.6666816253800758E-2</c:v>
                </c:pt>
                <c:pt idx="4">
                  <c:v>3.3751908756390218E-2</c:v>
                </c:pt>
                <c:pt idx="5">
                  <c:v>4.1166989712388509E-3</c:v>
                </c:pt>
                <c:pt idx="6">
                  <c:v>6.384189013951793E-3</c:v>
                </c:pt>
                <c:pt idx="7">
                  <c:v>2.4309387901041059E-3</c:v>
                </c:pt>
                <c:pt idx="8">
                  <c:v>9.2587519169846838E-2</c:v>
                </c:pt>
              </c:numCache>
            </c:numRef>
          </c:val>
          <c:extLst>
            <c:ext xmlns:c16="http://schemas.microsoft.com/office/drawing/2014/chart" uri="{C3380CC4-5D6E-409C-BE32-E72D297353CC}">
              <c16:uniqueId val="{00000025-6085-4C43-AD77-EE95FB526B4C}"/>
            </c:ext>
          </c:extLst>
        </c:ser>
        <c:ser>
          <c:idx val="2"/>
          <c:order val="2"/>
          <c:tx>
            <c:strRef>
              <c:f>' Revenue by Product Category '!$D$77:$D$78</c:f>
              <c:strCache>
                <c:ptCount val="1"/>
                <c:pt idx="0">
                  <c:v>Lower Manhattan</c:v>
                </c:pt>
              </c:strCache>
            </c:strRef>
          </c:tx>
          <c:dPt>
            <c:idx val="0"/>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27-6085-4C43-AD77-EE95FB526B4C}"/>
              </c:ext>
            </c:extLst>
          </c:dPt>
          <c:dPt>
            <c:idx val="1"/>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29-6085-4C43-AD77-EE95FB526B4C}"/>
              </c:ext>
            </c:extLst>
          </c:dPt>
          <c:dPt>
            <c:idx val="2"/>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2B-6085-4C43-AD77-EE95FB526B4C}"/>
              </c:ext>
            </c:extLst>
          </c:dPt>
          <c:dPt>
            <c:idx val="3"/>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2D-6085-4C43-AD77-EE95FB526B4C}"/>
              </c:ext>
            </c:extLst>
          </c:dPt>
          <c:dPt>
            <c:idx val="4"/>
            <c:bubble3D val="0"/>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2F-6085-4C43-AD77-EE95FB526B4C}"/>
              </c:ext>
            </c:extLst>
          </c:dPt>
          <c:dPt>
            <c:idx val="5"/>
            <c:bubble3D val="0"/>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31-6085-4C43-AD77-EE95FB526B4C}"/>
              </c:ext>
            </c:extLst>
          </c:dPt>
          <c:dPt>
            <c:idx val="6"/>
            <c:bubble3D val="0"/>
            <c:spPr>
              <a:gradFill rotWithShape="1">
                <a:gsLst>
                  <a:gs pos="0">
                    <a:schemeClr val="accent2">
                      <a:lumMod val="80000"/>
                      <a:lumOff val="20000"/>
                      <a:satMod val="103000"/>
                      <a:lumMod val="102000"/>
                      <a:tint val="94000"/>
                    </a:schemeClr>
                  </a:gs>
                  <a:gs pos="50000">
                    <a:schemeClr val="accent2">
                      <a:lumMod val="80000"/>
                      <a:lumOff val="20000"/>
                      <a:satMod val="110000"/>
                      <a:lumMod val="100000"/>
                      <a:shade val="100000"/>
                    </a:schemeClr>
                  </a:gs>
                  <a:gs pos="100000">
                    <a:schemeClr val="accent2">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33-6085-4C43-AD77-EE95FB526B4C}"/>
              </c:ext>
            </c:extLst>
          </c:dPt>
          <c:dPt>
            <c:idx val="7"/>
            <c:bubble3D val="0"/>
            <c:spPr>
              <a:gradFill rotWithShape="1">
                <a:gsLst>
                  <a:gs pos="0">
                    <a:schemeClr val="accent4">
                      <a:lumMod val="80000"/>
                      <a:lumOff val="20000"/>
                      <a:satMod val="103000"/>
                      <a:lumMod val="102000"/>
                      <a:tint val="94000"/>
                    </a:schemeClr>
                  </a:gs>
                  <a:gs pos="50000">
                    <a:schemeClr val="accent4">
                      <a:lumMod val="80000"/>
                      <a:lumOff val="20000"/>
                      <a:satMod val="110000"/>
                      <a:lumMod val="100000"/>
                      <a:shade val="100000"/>
                    </a:schemeClr>
                  </a:gs>
                  <a:gs pos="100000">
                    <a:schemeClr val="accent4">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35-6085-4C43-AD77-EE95FB526B4C}"/>
              </c:ext>
            </c:extLst>
          </c:dPt>
          <c:dPt>
            <c:idx val="8"/>
            <c:bubble3D val="0"/>
            <c:spPr>
              <a:gradFill rotWithShape="1">
                <a:gsLst>
                  <a:gs pos="0">
                    <a:schemeClr val="accent6">
                      <a:lumMod val="80000"/>
                      <a:lumOff val="20000"/>
                      <a:satMod val="103000"/>
                      <a:lumMod val="102000"/>
                      <a:tint val="94000"/>
                    </a:schemeClr>
                  </a:gs>
                  <a:gs pos="50000">
                    <a:schemeClr val="accent6">
                      <a:lumMod val="80000"/>
                      <a:lumOff val="20000"/>
                      <a:satMod val="110000"/>
                      <a:lumMod val="100000"/>
                      <a:shade val="100000"/>
                    </a:schemeClr>
                  </a:gs>
                  <a:gs pos="100000">
                    <a:schemeClr val="accent6">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37-6085-4C43-AD77-EE95FB526B4C}"/>
              </c:ext>
            </c:extLst>
          </c:dPt>
          <c:dLbls>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Century Gothic" panose="020B0502020202020204" pitchFamily="34" charset="0"/>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 Revenue by Product Category '!$A$79:$A$88</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 Revenue by Product Category '!$D$79:$D$88</c:f>
              <c:numCache>
                <c:formatCode>0.00%</c:formatCode>
                <c:ptCount val="9"/>
                <c:pt idx="0">
                  <c:v>4.0538695131496348E-2</c:v>
                </c:pt>
                <c:pt idx="1">
                  <c:v>8.8836440536189734E-3</c:v>
                </c:pt>
                <c:pt idx="2">
                  <c:v>0.12733819393255227</c:v>
                </c:pt>
                <c:pt idx="3">
                  <c:v>1.6071482310565727E-2</c:v>
                </c:pt>
                <c:pt idx="4">
                  <c:v>3.2189615200407855E-2</c:v>
                </c:pt>
                <c:pt idx="5">
                  <c:v>5.3908608052180024E-3</c:v>
                </c:pt>
                <c:pt idx="6">
                  <c:v>5.0918534880460024E-3</c:v>
                </c:pt>
                <c:pt idx="7">
                  <c:v>2.3170169307116101E-3</c:v>
                </c:pt>
                <c:pt idx="8">
                  <c:v>9.1390416651635928E-2</c:v>
                </c:pt>
              </c:numCache>
            </c:numRef>
          </c:val>
          <c:extLst>
            <c:ext xmlns:c16="http://schemas.microsoft.com/office/drawing/2014/chart" uri="{C3380CC4-5D6E-409C-BE32-E72D297353CC}">
              <c16:uniqueId val="{00000038-6085-4C43-AD77-EE95FB526B4C}"/>
            </c:ext>
          </c:extLst>
        </c:ser>
        <c:dLbls>
          <c:dLblPos val="bestFit"/>
          <c:showLegendKey val="0"/>
          <c:showVal val="1"/>
          <c:showCatName val="0"/>
          <c:showSerName val="0"/>
          <c:showPercent val="0"/>
          <c:showBubbleSize val="0"/>
          <c:showLeaderLines val="1"/>
        </c:dLbls>
      </c:pie3DChart>
      <c:spPr>
        <a:noFill/>
        <a:ln>
          <a:noFill/>
        </a:ln>
        <a:effectLst/>
      </c:spPr>
    </c:plotArea>
    <c:legend>
      <c:legendPos val="r"/>
      <c:layout>
        <c:manualLayout>
          <c:xMode val="edge"/>
          <c:yMode val="edge"/>
          <c:x val="0.72888866373320982"/>
          <c:y val="0.2997987028480944"/>
          <c:w val="0.10934663038443725"/>
          <c:h val="0.41839135810503025"/>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Century Gothic" panose="020B050202020202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41">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345">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chart" Target="../charts/chart2.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 Id="rId9" Type="http://schemas.openxmlformats.org/officeDocument/2006/relationships/image" Target="../media/image20.svg"/></Relationships>
</file>

<file path=ppt/slides/_rels/slide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6.xml"/><Relationship Id="rId5" Type="http://schemas.openxmlformats.org/officeDocument/2006/relationships/image" Target="../media/image24.sv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p:cNvGrpSpPr/>
        <p:nvPr/>
      </p:nvGrpSpPr>
      <p:grpSpPr>
        <a:xfrm>
          <a:off x="0" y="0"/>
          <a:ext cx="0" cy="0"/>
          <a:chOff x="0" y="0"/>
          <a:chExt cx="0" cy="0"/>
        </a:xfrm>
      </p:grpSpPr>
      <p:sp>
        <p:nvSpPr>
          <p:cNvPr id="2" name="TextBox 2"/>
          <p:cNvSpPr txBox="1"/>
          <p:nvPr/>
        </p:nvSpPr>
        <p:spPr>
          <a:xfrm>
            <a:off x="876924" y="6178415"/>
            <a:ext cx="10044629" cy="1558125"/>
          </a:xfrm>
          <a:prstGeom prst="rect">
            <a:avLst/>
          </a:prstGeom>
        </p:spPr>
        <p:txBody>
          <a:bodyPr lIns="0" tIns="0" rIns="0" bIns="0" rtlCol="0" anchor="t">
            <a:spAutoFit/>
          </a:bodyPr>
          <a:lstStyle/>
          <a:p>
            <a:pPr algn="ctr">
              <a:lnSpc>
                <a:spcPts val="5994"/>
              </a:lnSpc>
            </a:pPr>
            <a:r>
              <a:rPr lang="en-US" sz="4281">
                <a:solidFill>
                  <a:srgbClr val="000000"/>
                </a:solidFill>
                <a:latin typeface="ITC Avant Garde Gothic"/>
                <a:ea typeface="ITC Avant Garde Gothic"/>
                <a:cs typeface="ITC Avant Garde Gothic"/>
                <a:sym typeface="ITC Avant Garde Gothic"/>
              </a:rPr>
              <a:t>REVENUE PERFOMANCE ANALYSIS: JAN - JUN</a:t>
            </a:r>
          </a:p>
        </p:txBody>
      </p:sp>
      <p:sp>
        <p:nvSpPr>
          <p:cNvPr id="3" name="TextBox 3"/>
          <p:cNvSpPr txBox="1"/>
          <p:nvPr/>
        </p:nvSpPr>
        <p:spPr>
          <a:xfrm>
            <a:off x="876924" y="2531163"/>
            <a:ext cx="7659100" cy="3180527"/>
          </a:xfrm>
          <a:prstGeom prst="rect">
            <a:avLst/>
          </a:prstGeom>
        </p:spPr>
        <p:txBody>
          <a:bodyPr lIns="0" tIns="0" rIns="0" bIns="0" rtlCol="0" anchor="t">
            <a:spAutoFit/>
          </a:bodyPr>
          <a:lstStyle/>
          <a:p>
            <a:pPr algn="ctr">
              <a:lnSpc>
                <a:spcPts val="12120"/>
              </a:lnSpc>
            </a:pPr>
            <a:r>
              <a:rPr lang="en-US" sz="8657" b="1">
                <a:solidFill>
                  <a:srgbClr val="000000"/>
                </a:solidFill>
                <a:latin typeface="ITC Avant Garde Gothic Bold"/>
                <a:ea typeface="ITC Avant Garde Gothic Bold"/>
                <a:cs typeface="ITC Avant Garde Gothic Bold"/>
                <a:sym typeface="ITC Avant Garde Gothic Bold"/>
              </a:rPr>
              <a:t>Bright Coffee Shop</a:t>
            </a:r>
          </a:p>
        </p:txBody>
      </p:sp>
      <p:sp>
        <p:nvSpPr>
          <p:cNvPr id="4" name="Freeform 4"/>
          <p:cNvSpPr/>
          <p:nvPr/>
        </p:nvSpPr>
        <p:spPr>
          <a:xfrm>
            <a:off x="11184185" y="0"/>
            <a:ext cx="6247015" cy="10287000"/>
          </a:xfrm>
          <a:custGeom>
            <a:avLst/>
            <a:gdLst/>
            <a:ahLst/>
            <a:cxnLst/>
            <a:rect l="l" t="t" r="r" b="b"/>
            <a:pathLst>
              <a:path w="6247015" h="10287000">
                <a:moveTo>
                  <a:pt x="0" y="0"/>
                </a:moveTo>
                <a:lnTo>
                  <a:pt x="6247014" y="0"/>
                </a:lnTo>
                <a:lnTo>
                  <a:pt x="6247014"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t="-49" b="-49"/>
            </a:stretch>
          </a:blipFill>
        </p:spPr>
        <p:txBody>
          <a:bodyPr/>
          <a:lstStyle/>
          <a:p>
            <a:endParaRPr lang="en-ZA"/>
          </a:p>
        </p:txBody>
      </p:sp>
      <p:sp>
        <p:nvSpPr>
          <p:cNvPr id="5" name="TextBox 5"/>
          <p:cNvSpPr txBox="1"/>
          <p:nvPr/>
        </p:nvSpPr>
        <p:spPr>
          <a:xfrm>
            <a:off x="7263854" y="9013826"/>
            <a:ext cx="4798417" cy="1130934"/>
          </a:xfrm>
          <a:prstGeom prst="rect">
            <a:avLst/>
          </a:prstGeom>
        </p:spPr>
        <p:txBody>
          <a:bodyPr lIns="0" tIns="0" rIns="0" bIns="0" rtlCol="0" anchor="t">
            <a:spAutoFit/>
          </a:bodyPr>
          <a:lstStyle/>
          <a:p>
            <a:pPr algn="ctr">
              <a:lnSpc>
                <a:spcPts val="4340"/>
              </a:lnSpc>
            </a:pPr>
            <a:r>
              <a:rPr lang="en-US" sz="3100">
                <a:solidFill>
                  <a:srgbClr val="000000"/>
                </a:solidFill>
                <a:latin typeface="ITC Avant Garde Gothic"/>
                <a:ea typeface="ITC Avant Garde Gothic"/>
                <a:cs typeface="ITC Avant Garde Gothic"/>
                <a:sym typeface="ITC Avant Garde Gothic"/>
              </a:rPr>
              <a:t>By: Lesiba Sema</a:t>
            </a:r>
          </a:p>
          <a:p>
            <a:pPr algn="ctr">
              <a:lnSpc>
                <a:spcPts val="4340"/>
              </a:lnSpc>
            </a:pPr>
            <a:r>
              <a:rPr lang="en-US" sz="3100">
                <a:solidFill>
                  <a:srgbClr val="000000"/>
                </a:solidFill>
                <a:latin typeface="ITC Avant Garde Gothic"/>
                <a:ea typeface="ITC Avant Garde Gothic"/>
                <a:cs typeface="ITC Avant Garde Gothic"/>
                <a:sym typeface="ITC Avant Garde Gothic"/>
              </a:rPr>
              <a:t>Data and Insights Analyst</a:t>
            </a:r>
          </a:p>
        </p:txBody>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p:cNvGrpSpPr/>
        <p:nvPr/>
      </p:nvGrpSpPr>
      <p:grpSpPr>
        <a:xfrm>
          <a:off x="0" y="0"/>
          <a:ext cx="0" cy="0"/>
          <a:chOff x="0" y="0"/>
          <a:chExt cx="0" cy="0"/>
        </a:xfrm>
      </p:grpSpPr>
      <p:sp>
        <p:nvSpPr>
          <p:cNvPr id="2" name="Freeform 2"/>
          <p:cNvSpPr/>
          <p:nvPr/>
        </p:nvSpPr>
        <p:spPr>
          <a:xfrm>
            <a:off x="9418830" y="2165061"/>
            <a:ext cx="7667910" cy="6432763"/>
          </a:xfrm>
          <a:custGeom>
            <a:avLst/>
            <a:gdLst/>
            <a:ahLst/>
            <a:cxnLst/>
            <a:rect l="l" t="t" r="r" b="b"/>
            <a:pathLst>
              <a:path w="7667910" h="6432763">
                <a:moveTo>
                  <a:pt x="0" y="0"/>
                </a:moveTo>
                <a:lnTo>
                  <a:pt x="7667910" y="0"/>
                </a:lnTo>
                <a:lnTo>
                  <a:pt x="7667910" y="6432763"/>
                </a:lnTo>
                <a:lnTo>
                  <a:pt x="0" y="6432763"/>
                </a:lnTo>
                <a:lnTo>
                  <a:pt x="0" y="0"/>
                </a:lnTo>
                <a:close/>
              </a:path>
            </a:pathLst>
          </a:custGeom>
          <a:blipFill>
            <a:blip r:embed="rId2">
              <a:extLst>
                <a:ext uri="{96DAC541-7B7A-43D3-8B79-37D633B846F1}">
                  <asvg:svgBlip xmlns:asvg="http://schemas.microsoft.com/office/drawing/2016/SVG/main" r:embed="rId3"/>
                </a:ext>
              </a:extLst>
            </a:blip>
            <a:stretch>
              <a:fillRect l="-41" r="-10161"/>
            </a:stretch>
          </a:blipFill>
        </p:spPr>
        <p:txBody>
          <a:bodyPr/>
          <a:lstStyle/>
          <a:p>
            <a:endParaRPr lang="en-ZA"/>
          </a:p>
        </p:txBody>
      </p:sp>
      <p:sp>
        <p:nvSpPr>
          <p:cNvPr id="3" name="TextBox 3"/>
          <p:cNvSpPr txBox="1"/>
          <p:nvPr/>
        </p:nvSpPr>
        <p:spPr>
          <a:xfrm>
            <a:off x="598579" y="2477474"/>
            <a:ext cx="8155436" cy="7673896"/>
          </a:xfrm>
          <a:prstGeom prst="rect">
            <a:avLst/>
          </a:prstGeom>
        </p:spPr>
        <p:txBody>
          <a:bodyPr lIns="0" tIns="0" rIns="0" bIns="0" rtlCol="0" anchor="t">
            <a:spAutoFit/>
          </a:bodyPr>
          <a:lstStyle/>
          <a:p>
            <a:pPr marL="457200" indent="-457200" algn="l">
              <a:buFont typeface="Wingdings" panose="05000000000000000000" pitchFamily="2" charset="2"/>
              <a:buChar char="q"/>
            </a:pPr>
            <a:r>
              <a:rPr lang="en-US" sz="3200" b="1" dirty="0">
                <a:solidFill>
                  <a:srgbClr val="000000"/>
                </a:solidFill>
                <a:latin typeface="Century Gothic" panose="020B0502020202020204" pitchFamily="34" charset="0"/>
                <a:ea typeface="ITC Avant Garde Gothic Bold"/>
                <a:cs typeface="ITC Avant Garde Gothic Bold"/>
                <a:sym typeface="ITC Avant Garde Gothic Bold"/>
              </a:rPr>
              <a:t>OVERVIEW</a:t>
            </a:r>
          </a:p>
          <a:p>
            <a:pPr marL="457200" indent="-457200" algn="l">
              <a:buFont typeface="Wingdings" panose="05000000000000000000" pitchFamily="2" charset="2"/>
              <a:buChar char="q"/>
            </a:pPr>
            <a:r>
              <a:rPr lang="en-US" sz="3200" b="1" dirty="0">
                <a:solidFill>
                  <a:srgbClr val="000000"/>
                </a:solidFill>
                <a:latin typeface="Century Gothic" panose="020B0502020202020204" pitchFamily="34" charset="0"/>
                <a:ea typeface="ITC Avant Garde Gothic Bold"/>
                <a:cs typeface="ITC Avant Garde Gothic Bold"/>
                <a:sym typeface="ITC Avant Garde Gothic Bold"/>
              </a:rPr>
              <a:t>ANALYSIS OVERVIEW</a:t>
            </a:r>
          </a:p>
          <a:p>
            <a:pPr marL="457200" indent="-457200" algn="l">
              <a:buFont typeface="Wingdings" panose="05000000000000000000" pitchFamily="2" charset="2"/>
              <a:buChar char="q"/>
            </a:pPr>
            <a:r>
              <a:rPr lang="en-US" sz="3200" b="1" dirty="0">
                <a:solidFill>
                  <a:srgbClr val="000000"/>
                </a:solidFill>
                <a:latin typeface="Century Gothic" panose="020B0502020202020204" pitchFamily="34" charset="0"/>
                <a:ea typeface="ITC Avant Garde Gothic Bold"/>
                <a:cs typeface="ITC Avant Garde Gothic Bold"/>
                <a:sym typeface="ITC Avant Garde Gothic Bold"/>
              </a:rPr>
              <a:t>BUSINESS OVERVIEW</a:t>
            </a:r>
          </a:p>
          <a:p>
            <a:pPr marL="457200" indent="-457200">
              <a:buFont typeface="Wingdings" panose="05000000000000000000" pitchFamily="2" charset="2"/>
              <a:buChar char="q"/>
            </a:pPr>
            <a:r>
              <a:rPr lang="en-US" sz="3200" b="1" dirty="0">
                <a:solidFill>
                  <a:srgbClr val="000000"/>
                </a:solidFill>
                <a:latin typeface="Century Gothic" panose="020B0502020202020204" pitchFamily="34" charset="0"/>
                <a:ea typeface="ITC Avant Garde Gothic Bold"/>
                <a:cs typeface="ITC Avant Garde Gothic Bold"/>
                <a:sym typeface="ITC Avant Garde Gothic Bold"/>
              </a:rPr>
              <a:t>ANALYSIS: </a:t>
            </a:r>
            <a:r>
              <a:rPr lang="en-US" sz="3200" b="1" dirty="0">
                <a:solidFill>
                  <a:srgbClr val="000000"/>
                </a:solidFill>
                <a:latin typeface="Century Gothic" panose="020B0502020202020204" pitchFamily="34" charset="0"/>
                <a:ea typeface="Canva Sans Bold"/>
                <a:cs typeface="Canva Sans Bold"/>
                <a:sym typeface="Canva Sans Bold"/>
              </a:rPr>
              <a:t>Revenue by store location</a:t>
            </a:r>
          </a:p>
          <a:p>
            <a:pPr marL="457200" indent="-457200">
              <a:buFont typeface="Wingdings" panose="05000000000000000000" pitchFamily="2" charset="2"/>
              <a:buChar char="q"/>
            </a:pPr>
            <a:r>
              <a:rPr lang="en-US" sz="3200" b="1" dirty="0">
                <a:solidFill>
                  <a:srgbClr val="000000"/>
                </a:solidFill>
                <a:latin typeface="Century Gothic" panose="020B0502020202020204" pitchFamily="34" charset="0"/>
                <a:ea typeface="ITC Avant Garde Gothic Bold"/>
                <a:cs typeface="ITC Avant Garde Gothic Bold"/>
                <a:sym typeface="ITC Avant Garde Gothic Bold"/>
              </a:rPr>
              <a:t>ANALYSIS: </a:t>
            </a:r>
            <a:r>
              <a:rPr lang="en-US" sz="3200" b="1" dirty="0">
                <a:solidFill>
                  <a:srgbClr val="000000"/>
                </a:solidFill>
                <a:latin typeface="Century Gothic" panose="020B0502020202020204" pitchFamily="34" charset="0"/>
                <a:ea typeface="Canva Sans Bold"/>
                <a:cs typeface="Canva Sans Bold"/>
                <a:sym typeface="Canva Sans Bold"/>
              </a:rPr>
              <a:t>Revenue by Time Bucket</a:t>
            </a:r>
          </a:p>
          <a:p>
            <a:pPr marL="457200" indent="-457200">
              <a:buFont typeface="Wingdings" panose="05000000000000000000" pitchFamily="2" charset="2"/>
              <a:buChar char="q"/>
            </a:pPr>
            <a:r>
              <a:rPr lang="en-US" sz="3200" b="1" dirty="0">
                <a:solidFill>
                  <a:srgbClr val="000000"/>
                </a:solidFill>
                <a:latin typeface="Century Gothic" panose="020B0502020202020204" pitchFamily="34" charset="0"/>
                <a:ea typeface="ITC Avant Garde Gothic Bold"/>
                <a:cs typeface="ITC Avant Garde Gothic Bold"/>
                <a:sym typeface="ITC Avant Garde Gothic Bold"/>
              </a:rPr>
              <a:t>ANALYSIS: </a:t>
            </a:r>
            <a:r>
              <a:rPr lang="en-US" sz="3200" b="1" dirty="0">
                <a:solidFill>
                  <a:srgbClr val="000000"/>
                </a:solidFill>
                <a:latin typeface="Century Gothic" panose="020B0502020202020204" pitchFamily="34" charset="0"/>
                <a:ea typeface="Canva Sans Bold"/>
                <a:cs typeface="Canva Sans Bold"/>
                <a:sym typeface="Canva Sans Bold"/>
              </a:rPr>
              <a:t>Revenue by Product Category</a:t>
            </a:r>
          </a:p>
          <a:p>
            <a:pPr marL="457200" indent="-457200">
              <a:buFont typeface="Wingdings" panose="05000000000000000000" pitchFamily="2" charset="2"/>
              <a:buChar char="q"/>
            </a:pPr>
            <a:r>
              <a:rPr lang="en-ZA" sz="3200" b="1" dirty="0">
                <a:latin typeface="Century Gothic" panose="020B0502020202020204" pitchFamily="34" charset="0"/>
              </a:rPr>
              <a:t>RECOMMENDATIONS</a:t>
            </a:r>
            <a:endParaRPr lang="en-US" sz="3200" b="1" dirty="0">
              <a:solidFill>
                <a:srgbClr val="000000"/>
              </a:solidFill>
              <a:latin typeface="Century Gothic" panose="020B0502020202020204" pitchFamily="34" charset="0"/>
              <a:ea typeface="Canva Sans Bold"/>
              <a:cs typeface="Canva Sans Bold"/>
              <a:sym typeface="Canva Sans Bold"/>
            </a:endParaRPr>
          </a:p>
          <a:p>
            <a:pPr>
              <a:lnSpc>
                <a:spcPts val="7378"/>
              </a:lnSpc>
            </a:pPr>
            <a:endParaRPr lang="en-US" sz="5400" b="1" dirty="0">
              <a:solidFill>
                <a:srgbClr val="000000"/>
              </a:solidFill>
              <a:latin typeface="Century Gothic" panose="020B0502020202020204" pitchFamily="34" charset="0"/>
              <a:ea typeface="Canva Sans Bold"/>
              <a:cs typeface="Canva Sans Bold"/>
              <a:sym typeface="Canva Sans Bold"/>
            </a:endParaRPr>
          </a:p>
          <a:p>
            <a:pPr>
              <a:lnSpc>
                <a:spcPts val="7378"/>
              </a:lnSpc>
            </a:pPr>
            <a:endParaRPr lang="en-US" sz="5400" b="1" dirty="0">
              <a:solidFill>
                <a:srgbClr val="000000"/>
              </a:solidFill>
              <a:latin typeface="Century Gothic" panose="020B0502020202020204" pitchFamily="34" charset="0"/>
              <a:ea typeface="Canva Sans Bold"/>
              <a:cs typeface="Canva Sans Bold"/>
              <a:sym typeface="Canva Sans Bold"/>
            </a:endParaRPr>
          </a:p>
          <a:p>
            <a:pPr algn="l">
              <a:lnSpc>
                <a:spcPts val="7378"/>
              </a:lnSpc>
            </a:pPr>
            <a:endParaRPr lang="en-US" sz="5270" b="1" dirty="0">
              <a:solidFill>
                <a:srgbClr val="000000"/>
              </a:solidFill>
              <a:latin typeface="ITC Avant Garde Gothic Bold"/>
              <a:ea typeface="ITC Avant Garde Gothic Bold"/>
              <a:cs typeface="ITC Avant Garde Gothic Bold"/>
              <a:sym typeface="ITC Avant Garde Gothic Bold"/>
            </a:endParaRPr>
          </a:p>
          <a:p>
            <a:pPr algn="l">
              <a:lnSpc>
                <a:spcPts val="7378"/>
              </a:lnSpc>
            </a:pPr>
            <a:endParaRPr lang="en-US" sz="5270" b="1" dirty="0">
              <a:solidFill>
                <a:srgbClr val="000000"/>
              </a:solidFill>
              <a:latin typeface="ITC Avant Garde Gothic Bold"/>
              <a:ea typeface="ITC Avant Garde Gothic Bold"/>
              <a:cs typeface="ITC Avant Garde Gothic Bold"/>
              <a:sym typeface="ITC Avant Garde Gothic Bold"/>
            </a:endParaRPr>
          </a:p>
        </p:txBody>
      </p:sp>
      <p:sp>
        <p:nvSpPr>
          <p:cNvPr id="4" name="TextBox 4"/>
          <p:cNvSpPr txBox="1"/>
          <p:nvPr/>
        </p:nvSpPr>
        <p:spPr>
          <a:xfrm>
            <a:off x="-1371600" y="190500"/>
            <a:ext cx="6919889" cy="1228157"/>
          </a:xfrm>
          <a:prstGeom prst="rect">
            <a:avLst/>
          </a:prstGeom>
        </p:spPr>
        <p:txBody>
          <a:bodyPr lIns="0" tIns="0" rIns="0" bIns="0" rtlCol="0" anchor="t">
            <a:spAutoFit/>
          </a:bodyPr>
          <a:lstStyle/>
          <a:p>
            <a:pPr algn="ctr">
              <a:lnSpc>
                <a:spcPts val="11200"/>
              </a:lnSpc>
            </a:pPr>
            <a:r>
              <a:rPr lang="en-US" sz="5400" b="1" dirty="0">
                <a:solidFill>
                  <a:srgbClr val="000000"/>
                </a:solidFill>
                <a:latin typeface="Century Gothic" panose="020B0502020202020204" pitchFamily="34" charset="0"/>
                <a:ea typeface="ITC Avant Garde Gothic Bold"/>
                <a:cs typeface="ITC Avant Garde Gothic Bold"/>
                <a:sym typeface="ITC Avant Garde Gothic Bold"/>
              </a:rPr>
              <a:t>CONTENT</a:t>
            </a:r>
          </a:p>
        </p:txBody>
      </p:sp>
      <p:sp>
        <p:nvSpPr>
          <p:cNvPr id="5" name="TextBox 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p:cNvGrpSpPr/>
        <p:nvPr/>
      </p:nvGrpSpPr>
      <p:grpSpPr>
        <a:xfrm>
          <a:off x="0" y="0"/>
          <a:ext cx="0" cy="0"/>
          <a:chOff x="0" y="0"/>
          <a:chExt cx="0" cy="0"/>
        </a:xfrm>
      </p:grpSpPr>
      <p:sp>
        <p:nvSpPr>
          <p:cNvPr id="2" name="TextBox 2"/>
          <p:cNvSpPr txBox="1"/>
          <p:nvPr/>
        </p:nvSpPr>
        <p:spPr>
          <a:xfrm>
            <a:off x="940501" y="427627"/>
            <a:ext cx="11147104" cy="1257267"/>
          </a:xfrm>
          <a:prstGeom prst="rect">
            <a:avLst/>
          </a:prstGeom>
        </p:spPr>
        <p:txBody>
          <a:bodyPr lIns="0" tIns="0" rIns="0" bIns="0" rtlCol="0" anchor="t">
            <a:spAutoFit/>
          </a:bodyPr>
          <a:lstStyle/>
          <a:p>
            <a:pPr algn="l">
              <a:lnSpc>
                <a:spcPts val="11200"/>
              </a:lnSpc>
            </a:pPr>
            <a:r>
              <a:rPr lang="en-US" sz="5400" b="1" dirty="0">
                <a:solidFill>
                  <a:srgbClr val="000000"/>
                </a:solidFill>
                <a:latin typeface="Century Gothic" panose="020B0502020202020204" pitchFamily="34" charset="0"/>
                <a:ea typeface="ITC Avant Garde Gothic Bold"/>
                <a:cs typeface="ITC Avant Garde Gothic Bold"/>
                <a:sym typeface="ITC Avant Garde Gothic Bold"/>
              </a:rPr>
              <a:t>ANALYSIS OVERVIEW</a:t>
            </a:r>
          </a:p>
        </p:txBody>
      </p:sp>
      <p:sp>
        <p:nvSpPr>
          <p:cNvPr id="3" name="TextBox 3"/>
          <p:cNvSpPr txBox="1"/>
          <p:nvPr/>
        </p:nvSpPr>
        <p:spPr>
          <a:xfrm>
            <a:off x="5105400" y="2247900"/>
            <a:ext cx="12795143" cy="6363793"/>
          </a:xfrm>
          <a:prstGeom prst="rect">
            <a:avLst/>
          </a:prstGeom>
        </p:spPr>
        <p:txBody>
          <a:bodyPr lIns="0" tIns="0" rIns="0" bIns="0" rtlCol="0" anchor="t">
            <a:spAutoFit/>
          </a:bodyPr>
          <a:lstStyle/>
          <a:p>
            <a:pPr marL="604519" lvl="1" indent="-302260" algn="l">
              <a:lnSpc>
                <a:spcPts val="5599"/>
              </a:lnSpc>
              <a:buFont typeface="Arial"/>
              <a:buChar char="•"/>
            </a:pPr>
            <a:r>
              <a:rPr lang="en-US" sz="2400" dirty="0">
                <a:solidFill>
                  <a:srgbClr val="000000"/>
                </a:solidFill>
                <a:latin typeface="Century Gothic" panose="020B0502020202020204" pitchFamily="34" charset="0"/>
                <a:ea typeface="ITC Avant Garde Gothic"/>
                <a:cs typeface="ITC Avant Garde Gothic"/>
                <a:sym typeface="ITC Avant Garde Gothic"/>
              </a:rPr>
              <a:t>This presentation provides this analysis of the coffee shop’s revenue performance over a defined period. It highlights key revenue streams, customer purchasing patterns, and peak sales periods. </a:t>
            </a:r>
          </a:p>
          <a:p>
            <a:pPr marL="604519" lvl="1" indent="-302260" algn="l">
              <a:lnSpc>
                <a:spcPts val="5599"/>
              </a:lnSpc>
              <a:buFont typeface="Arial"/>
              <a:buChar char="•"/>
            </a:pPr>
            <a:r>
              <a:rPr lang="en-US" sz="2400" dirty="0">
                <a:solidFill>
                  <a:srgbClr val="000000"/>
                </a:solidFill>
                <a:latin typeface="Century Gothic" panose="020B0502020202020204" pitchFamily="34" charset="0"/>
                <a:ea typeface="ITC Avant Garde Gothic"/>
                <a:cs typeface="ITC Avant Garde Gothic"/>
                <a:sym typeface="ITC Avant Garde Gothic"/>
              </a:rPr>
              <a:t>The aim of the diagnostic analysis is to study what influences customer purchasing performance, product-based performance, store location and sales trends to identify key metrics that contribute to the incline or decline of revenue. </a:t>
            </a:r>
          </a:p>
          <a:p>
            <a:pPr marL="604519" lvl="1" indent="-302260" algn="l">
              <a:lnSpc>
                <a:spcPts val="5599"/>
              </a:lnSpc>
              <a:buFont typeface="Arial"/>
              <a:buChar char="•"/>
            </a:pPr>
            <a:r>
              <a:rPr lang="en-US" sz="2400" dirty="0">
                <a:solidFill>
                  <a:srgbClr val="000000"/>
                </a:solidFill>
                <a:latin typeface="Century Gothic" panose="020B0502020202020204" pitchFamily="34" charset="0"/>
                <a:ea typeface="ITC Avant Garde Gothic"/>
                <a:cs typeface="ITC Avant Garde Gothic"/>
                <a:sym typeface="ITC Avant Garde Gothic"/>
              </a:rPr>
              <a:t>The analysis will be used to investigate probable cause to the decline in revenue and highlight key strategic points that the business will need to focus on to drive revenue in a positive incline.</a:t>
            </a:r>
          </a:p>
        </p:txBody>
      </p:sp>
      <p:sp>
        <p:nvSpPr>
          <p:cNvPr id="4" name="Freeform 4"/>
          <p:cNvSpPr/>
          <p:nvPr/>
        </p:nvSpPr>
        <p:spPr>
          <a:xfrm>
            <a:off x="916853" y="2476500"/>
            <a:ext cx="3963419" cy="3977884"/>
          </a:xfrm>
          <a:custGeom>
            <a:avLst/>
            <a:gdLst/>
            <a:ahLst/>
            <a:cxnLst/>
            <a:rect l="l" t="t" r="r" b="b"/>
            <a:pathLst>
              <a:path w="3963419" h="3977884">
                <a:moveTo>
                  <a:pt x="0" y="0"/>
                </a:moveTo>
                <a:lnTo>
                  <a:pt x="3963419" y="0"/>
                </a:lnTo>
                <a:lnTo>
                  <a:pt x="3963419" y="3977884"/>
                </a:lnTo>
                <a:lnTo>
                  <a:pt x="0" y="3977884"/>
                </a:lnTo>
                <a:lnTo>
                  <a:pt x="0" y="0"/>
                </a:lnTo>
                <a:close/>
              </a:path>
            </a:pathLst>
          </a:custGeom>
          <a:blipFill>
            <a:blip r:embed="rId2">
              <a:extLst>
                <a:ext uri="{96DAC541-7B7A-43D3-8B79-37D633B846F1}">
                  <asvg:svgBlip xmlns:asvg="http://schemas.microsoft.com/office/drawing/2016/SVG/main" r:embed="rId3"/>
                </a:ext>
              </a:extLst>
            </a:blip>
            <a:stretch>
              <a:fillRect t="-26" b="-26"/>
            </a:stretch>
          </a:blipFill>
        </p:spPr>
        <p:txBody>
          <a:bodyPr/>
          <a:lstStyle/>
          <a:p>
            <a:endParaRPr lang="en-ZA"/>
          </a:p>
        </p:txBody>
      </p:sp>
      <p:sp>
        <p:nvSpPr>
          <p:cNvPr id="5" name="TextBox 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p:cNvGrpSpPr/>
        <p:nvPr/>
      </p:nvGrpSpPr>
      <p:grpSpPr>
        <a:xfrm>
          <a:off x="0" y="0"/>
          <a:ext cx="0" cy="0"/>
          <a:chOff x="0" y="0"/>
          <a:chExt cx="0" cy="0"/>
        </a:xfrm>
      </p:grpSpPr>
      <p:sp>
        <p:nvSpPr>
          <p:cNvPr id="2" name="Freeform 2"/>
          <p:cNvSpPr/>
          <p:nvPr/>
        </p:nvSpPr>
        <p:spPr>
          <a:xfrm>
            <a:off x="8621275" y="2430997"/>
            <a:ext cx="6683231" cy="7856003"/>
          </a:xfrm>
          <a:custGeom>
            <a:avLst/>
            <a:gdLst/>
            <a:ahLst/>
            <a:cxnLst/>
            <a:rect l="l" t="t" r="r" b="b"/>
            <a:pathLst>
              <a:path w="6683231" h="7856003">
                <a:moveTo>
                  <a:pt x="0" y="0"/>
                </a:moveTo>
                <a:lnTo>
                  <a:pt x="6683231" y="0"/>
                </a:lnTo>
                <a:lnTo>
                  <a:pt x="6683231" y="7856003"/>
                </a:lnTo>
                <a:lnTo>
                  <a:pt x="0" y="7856003"/>
                </a:lnTo>
                <a:lnTo>
                  <a:pt x="0" y="0"/>
                </a:lnTo>
                <a:close/>
              </a:path>
            </a:pathLst>
          </a:custGeom>
          <a:blipFill>
            <a:blip r:embed="rId2">
              <a:alphaModFix amt="36000"/>
            </a:blip>
            <a:stretch>
              <a:fillRect t="-269" b="-269"/>
            </a:stretch>
          </a:blipFill>
          <a:ln cap="sq">
            <a:noFill/>
            <a:prstDash val="solid"/>
            <a:miter/>
          </a:ln>
        </p:spPr>
        <p:txBody>
          <a:bodyPr/>
          <a:lstStyle/>
          <a:p>
            <a:endParaRPr lang="en-ZA"/>
          </a:p>
        </p:txBody>
      </p:sp>
      <p:sp>
        <p:nvSpPr>
          <p:cNvPr id="3" name="Freeform 3"/>
          <p:cNvSpPr/>
          <p:nvPr/>
        </p:nvSpPr>
        <p:spPr>
          <a:xfrm>
            <a:off x="10810251" y="3880368"/>
            <a:ext cx="6658461" cy="4957261"/>
          </a:xfrm>
          <a:custGeom>
            <a:avLst/>
            <a:gdLst/>
            <a:ahLst/>
            <a:cxnLst/>
            <a:rect l="l" t="t" r="r" b="b"/>
            <a:pathLst>
              <a:path w="6658461" h="4957261">
                <a:moveTo>
                  <a:pt x="0" y="0"/>
                </a:moveTo>
                <a:lnTo>
                  <a:pt x="6658461" y="0"/>
                </a:lnTo>
                <a:lnTo>
                  <a:pt x="6658461" y="4957261"/>
                </a:lnTo>
                <a:lnTo>
                  <a:pt x="0" y="4957261"/>
                </a:lnTo>
                <a:lnTo>
                  <a:pt x="0" y="0"/>
                </a:lnTo>
                <a:close/>
              </a:path>
            </a:pathLst>
          </a:custGeom>
          <a:blipFill>
            <a:blip r:embed="rId3"/>
            <a:stretch>
              <a:fillRect/>
            </a:stretch>
          </a:blipFill>
        </p:spPr>
        <p:txBody>
          <a:bodyPr/>
          <a:lstStyle/>
          <a:p>
            <a:endParaRPr lang="en-ZA"/>
          </a:p>
        </p:txBody>
      </p:sp>
      <p:sp>
        <p:nvSpPr>
          <p:cNvPr id="4" name="TextBox 4"/>
          <p:cNvSpPr txBox="1"/>
          <p:nvPr/>
        </p:nvSpPr>
        <p:spPr>
          <a:xfrm>
            <a:off x="1023257" y="32657"/>
            <a:ext cx="12405015" cy="1257267"/>
          </a:xfrm>
          <a:prstGeom prst="rect">
            <a:avLst/>
          </a:prstGeom>
        </p:spPr>
        <p:txBody>
          <a:bodyPr lIns="0" tIns="0" rIns="0" bIns="0" rtlCol="0" anchor="t">
            <a:spAutoFit/>
          </a:bodyPr>
          <a:lstStyle/>
          <a:p>
            <a:pPr>
              <a:lnSpc>
                <a:spcPts val="11200"/>
              </a:lnSpc>
            </a:pPr>
            <a:r>
              <a:rPr lang="en-US" sz="5400" b="1" dirty="0">
                <a:solidFill>
                  <a:srgbClr val="000000"/>
                </a:solidFill>
                <a:latin typeface="Century Gothic" panose="020B0502020202020204" pitchFamily="34" charset="0"/>
                <a:ea typeface="ITC Avant Garde Gothic Bold"/>
                <a:cs typeface="ITC Avant Garde Gothic Bold"/>
                <a:sym typeface="ITC Avant Garde Gothic Bold"/>
              </a:rPr>
              <a:t>BUSINESS OVERVIEW</a:t>
            </a:r>
          </a:p>
        </p:txBody>
      </p:sp>
      <p:sp>
        <p:nvSpPr>
          <p:cNvPr id="5" name="TextBox 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
        <p:nvSpPr>
          <p:cNvPr id="6" name="TextBox 6"/>
          <p:cNvSpPr txBox="1"/>
          <p:nvPr/>
        </p:nvSpPr>
        <p:spPr>
          <a:xfrm>
            <a:off x="1028700" y="1715386"/>
            <a:ext cx="13110782" cy="3976370"/>
          </a:xfrm>
          <a:prstGeom prst="rect">
            <a:avLst/>
          </a:prstGeom>
        </p:spPr>
        <p:txBody>
          <a:bodyPr lIns="0" tIns="0" rIns="0" bIns="0" rtlCol="0" anchor="t">
            <a:spAutoFit/>
          </a:bodyPr>
          <a:lstStyle/>
          <a:p>
            <a:pPr algn="l">
              <a:lnSpc>
                <a:spcPts val="4480"/>
              </a:lnSpc>
            </a:pPr>
            <a:r>
              <a:rPr lang="en-US" sz="3200" dirty="0">
                <a:solidFill>
                  <a:srgbClr val="000000"/>
                </a:solidFill>
                <a:latin typeface="Century Gothic" panose="020B0502020202020204" pitchFamily="34" charset="0"/>
                <a:ea typeface="ITC Avant Garde Gothic"/>
                <a:cs typeface="ITC Avant Garde Gothic"/>
                <a:sym typeface="ITC Avant Garde Gothic"/>
              </a:rPr>
              <a:t>Bright coffee shop is a franchise business with 3 stores in prime locations of Johannesburg. </a:t>
            </a:r>
          </a:p>
          <a:p>
            <a:pPr algn="l">
              <a:lnSpc>
                <a:spcPts val="4480"/>
              </a:lnSpc>
            </a:pPr>
            <a:endParaRPr lang="en-US" sz="3200" dirty="0">
              <a:solidFill>
                <a:srgbClr val="000000"/>
              </a:solidFill>
              <a:latin typeface="Century Gothic" panose="020B0502020202020204" pitchFamily="34" charset="0"/>
              <a:ea typeface="ITC Avant Garde Gothic"/>
              <a:cs typeface="ITC Avant Garde Gothic"/>
              <a:sym typeface="ITC Avant Garde Gothic"/>
            </a:endParaRPr>
          </a:p>
          <a:p>
            <a:pPr algn="l">
              <a:lnSpc>
                <a:spcPts val="4480"/>
              </a:lnSpc>
            </a:pPr>
            <a:r>
              <a:rPr lang="en-US" sz="3200" dirty="0">
                <a:solidFill>
                  <a:srgbClr val="000000"/>
                </a:solidFill>
                <a:latin typeface="Century Gothic" panose="020B0502020202020204" pitchFamily="34" charset="0"/>
                <a:ea typeface="ITC Avant Garde Gothic"/>
                <a:cs typeface="ITC Avant Garde Gothic"/>
                <a:sym typeface="ITC Avant Garde Gothic"/>
              </a:rPr>
              <a:t>Our stores are located in: </a:t>
            </a:r>
          </a:p>
          <a:p>
            <a:pPr marL="690881" lvl="1" indent="-345440" algn="l">
              <a:lnSpc>
                <a:spcPts val="4480"/>
              </a:lnSpc>
              <a:buFont typeface="Arial"/>
              <a:buChar char="•"/>
            </a:pPr>
            <a:r>
              <a:rPr lang="en-US" sz="3200" dirty="0">
                <a:solidFill>
                  <a:srgbClr val="000000"/>
                </a:solidFill>
                <a:latin typeface="Century Gothic" panose="020B0502020202020204" pitchFamily="34" charset="0"/>
                <a:ea typeface="ITC Avant Garde Gothic"/>
                <a:cs typeface="ITC Avant Garde Gothic"/>
                <a:sym typeface="ITC Avant Garde Gothic"/>
              </a:rPr>
              <a:t>Astoria - Rosebank</a:t>
            </a:r>
          </a:p>
          <a:p>
            <a:pPr marL="690881" lvl="1" indent="-345440" algn="l">
              <a:lnSpc>
                <a:spcPts val="4480"/>
              </a:lnSpc>
              <a:buFont typeface="Arial"/>
              <a:buChar char="•"/>
            </a:pPr>
            <a:r>
              <a:rPr lang="en-US" sz="3200" dirty="0">
                <a:solidFill>
                  <a:srgbClr val="000000"/>
                </a:solidFill>
                <a:latin typeface="Century Gothic" panose="020B0502020202020204" pitchFamily="34" charset="0"/>
                <a:ea typeface="ITC Avant Garde Gothic"/>
                <a:cs typeface="ITC Avant Garde Gothic"/>
                <a:sym typeface="ITC Avant Garde Gothic"/>
              </a:rPr>
              <a:t>Hell’s Kitchen - Sandton City</a:t>
            </a:r>
          </a:p>
          <a:p>
            <a:pPr marL="690881" lvl="1" indent="-345440" algn="l">
              <a:lnSpc>
                <a:spcPts val="4480"/>
              </a:lnSpc>
              <a:buFont typeface="Arial"/>
              <a:buChar char="•"/>
            </a:pPr>
            <a:r>
              <a:rPr lang="en-US" sz="3200" dirty="0">
                <a:solidFill>
                  <a:srgbClr val="000000"/>
                </a:solidFill>
                <a:latin typeface="Century Gothic" panose="020B0502020202020204" pitchFamily="34" charset="0"/>
                <a:ea typeface="ITC Avant Garde Gothic"/>
                <a:cs typeface="ITC Avant Garde Gothic"/>
                <a:sym typeface="ITC Avant Garde Gothic"/>
              </a:rPr>
              <a:t>Lower Manhattan - Waterfall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p:cNvGrpSpPr/>
        <p:nvPr/>
      </p:nvGrpSpPr>
      <p:grpSpPr>
        <a:xfrm>
          <a:off x="0" y="0"/>
          <a:ext cx="0" cy="0"/>
          <a:chOff x="0" y="0"/>
          <a:chExt cx="0" cy="0"/>
        </a:xfrm>
      </p:grpSpPr>
      <p:sp>
        <p:nvSpPr>
          <p:cNvPr id="3" name="Freeform 3"/>
          <p:cNvSpPr/>
          <p:nvPr/>
        </p:nvSpPr>
        <p:spPr>
          <a:xfrm flipH="1">
            <a:off x="15506700" y="8877300"/>
            <a:ext cx="3505200" cy="3540967"/>
          </a:xfrm>
          <a:custGeom>
            <a:avLst/>
            <a:gdLst/>
            <a:ahLst/>
            <a:cxnLst/>
            <a:rect l="l" t="t" r="r" b="b"/>
            <a:pathLst>
              <a:path w="9457210" h="9405625">
                <a:moveTo>
                  <a:pt x="9457210" y="0"/>
                </a:moveTo>
                <a:lnTo>
                  <a:pt x="0" y="0"/>
                </a:lnTo>
                <a:lnTo>
                  <a:pt x="0" y="9405625"/>
                </a:lnTo>
                <a:lnTo>
                  <a:pt x="9457210" y="9405625"/>
                </a:lnTo>
                <a:lnTo>
                  <a:pt x="9457210" y="0"/>
                </a:lnTo>
                <a:close/>
              </a:path>
            </a:pathLst>
          </a:custGeom>
          <a:blipFill>
            <a:blip r:embed="rId2">
              <a:extLst>
                <a:ext uri="{96DAC541-7B7A-43D3-8B79-37D633B846F1}">
                  <asvg:svgBlip xmlns:asvg="http://schemas.microsoft.com/office/drawing/2016/SVG/main" r:embed="rId3"/>
                </a:ext>
              </a:extLst>
            </a:blip>
            <a:stretch>
              <a:fillRect l="-40" r="-40"/>
            </a:stretch>
          </a:blipFill>
        </p:spPr>
        <p:txBody>
          <a:bodyPr/>
          <a:lstStyle/>
          <a:p>
            <a:endParaRPr lang="en-ZA"/>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
        <p:nvSpPr>
          <p:cNvPr id="5" name="TextBox 5"/>
          <p:cNvSpPr txBox="1"/>
          <p:nvPr/>
        </p:nvSpPr>
        <p:spPr>
          <a:xfrm>
            <a:off x="0" y="-241933"/>
            <a:ext cx="9906000" cy="3201774"/>
          </a:xfrm>
          <a:prstGeom prst="rect">
            <a:avLst/>
          </a:prstGeom>
        </p:spPr>
        <p:txBody>
          <a:bodyPr wrap="square" lIns="0" tIns="0" rIns="0" bIns="0" rtlCol="0" anchor="t">
            <a:spAutoFit/>
          </a:bodyPr>
          <a:lstStyle/>
          <a:p>
            <a:pPr algn="ctr">
              <a:lnSpc>
                <a:spcPts val="12880"/>
              </a:lnSpc>
            </a:pPr>
            <a:r>
              <a:rPr lang="en-US" sz="4000" b="1" dirty="0">
                <a:solidFill>
                  <a:srgbClr val="000000"/>
                </a:solidFill>
                <a:latin typeface="Century Gothic" panose="020B0502020202020204" pitchFamily="34" charset="0"/>
                <a:ea typeface="ITC Avant Garde Gothic Bold"/>
                <a:cs typeface="ITC Avant Garde Gothic Bold"/>
                <a:sym typeface="ITC Avant Garde Gothic Bold"/>
              </a:rPr>
              <a:t>ANALYSIS: </a:t>
            </a:r>
            <a:r>
              <a:rPr lang="en-US" sz="4000" b="1" dirty="0">
                <a:solidFill>
                  <a:srgbClr val="000000"/>
                </a:solidFill>
                <a:latin typeface="Century Gothic" panose="020B0502020202020204" pitchFamily="34" charset="0"/>
                <a:ea typeface="Canva Sans Bold"/>
                <a:cs typeface="Canva Sans Bold"/>
                <a:sym typeface="Canva Sans Bold"/>
              </a:rPr>
              <a:t>Revenue by store location</a:t>
            </a:r>
          </a:p>
          <a:p>
            <a:pPr algn="ctr">
              <a:lnSpc>
                <a:spcPts val="12880"/>
              </a:lnSpc>
            </a:pPr>
            <a:endParaRPr lang="en-US" sz="9200" b="1" dirty="0">
              <a:solidFill>
                <a:srgbClr val="000000"/>
              </a:solidFill>
              <a:latin typeface="ITC Avant Garde Gothic Bold"/>
              <a:ea typeface="ITC Avant Garde Gothic Bold"/>
              <a:cs typeface="ITC Avant Garde Gothic Bold"/>
              <a:sym typeface="ITC Avant Garde Gothic Bold"/>
            </a:endParaRPr>
          </a:p>
        </p:txBody>
      </p:sp>
      <p:graphicFrame>
        <p:nvGraphicFramePr>
          <p:cNvPr id="7" name="Chart 6">
            <a:extLst>
              <a:ext uri="{FF2B5EF4-FFF2-40B4-BE49-F238E27FC236}">
                <a16:creationId xmlns:a16="http://schemas.microsoft.com/office/drawing/2014/main" id="{B0C2EB0C-C9B4-C018-637D-BFD471629799}"/>
              </a:ext>
            </a:extLst>
          </p:cNvPr>
          <p:cNvGraphicFramePr>
            <a:graphicFrameLocks/>
          </p:cNvGraphicFramePr>
          <p:nvPr>
            <p:extLst>
              <p:ext uri="{D42A27DB-BD31-4B8C-83A1-F6EECF244321}">
                <p14:modId xmlns:p14="http://schemas.microsoft.com/office/powerpoint/2010/main" val="86483925"/>
              </p:ext>
            </p:extLst>
          </p:nvPr>
        </p:nvGraphicFramePr>
        <p:xfrm>
          <a:off x="152399" y="1428638"/>
          <a:ext cx="8686801" cy="589852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a:extLst>
              <a:ext uri="{FF2B5EF4-FFF2-40B4-BE49-F238E27FC236}">
                <a16:creationId xmlns:a16="http://schemas.microsoft.com/office/drawing/2014/main" id="{065F1A39-B025-6BD9-B5D1-40C74D912918}"/>
              </a:ext>
            </a:extLst>
          </p:cNvPr>
          <p:cNvGraphicFramePr>
            <a:graphicFrameLocks/>
          </p:cNvGraphicFramePr>
          <p:nvPr>
            <p:extLst>
              <p:ext uri="{D42A27DB-BD31-4B8C-83A1-F6EECF244321}">
                <p14:modId xmlns:p14="http://schemas.microsoft.com/office/powerpoint/2010/main" val="562526452"/>
              </p:ext>
            </p:extLst>
          </p:nvPr>
        </p:nvGraphicFramePr>
        <p:xfrm>
          <a:off x="8534401" y="1245924"/>
          <a:ext cx="9459686" cy="6157118"/>
        </p:xfrm>
        <a:graphic>
          <a:graphicData uri="http://schemas.openxmlformats.org/drawingml/2006/chart">
            <c:chart xmlns:c="http://schemas.openxmlformats.org/drawingml/2006/chart" xmlns:r="http://schemas.openxmlformats.org/officeDocument/2006/relationships" r:id="rId5"/>
          </a:graphicData>
        </a:graphic>
      </p:graphicFrame>
      <p:sp>
        <p:nvSpPr>
          <p:cNvPr id="14" name="TextBox 13">
            <a:extLst>
              <a:ext uri="{FF2B5EF4-FFF2-40B4-BE49-F238E27FC236}">
                <a16:creationId xmlns:a16="http://schemas.microsoft.com/office/drawing/2014/main" id="{984F8316-C1D7-E6E8-7538-33D5B6F1621C}"/>
              </a:ext>
            </a:extLst>
          </p:cNvPr>
          <p:cNvSpPr txBox="1"/>
          <p:nvPr/>
        </p:nvSpPr>
        <p:spPr>
          <a:xfrm>
            <a:off x="293914" y="7403042"/>
            <a:ext cx="16916400" cy="2585323"/>
          </a:xfrm>
          <a:prstGeom prst="rect">
            <a:avLst/>
          </a:prstGeom>
          <a:noFill/>
        </p:spPr>
        <p:txBody>
          <a:bodyPr wrap="square" rtlCol="0">
            <a:spAutoFit/>
          </a:bodyPr>
          <a:lstStyle/>
          <a:p>
            <a:pPr lvl="0" eaLnBrk="0" fontAlgn="base" hangingPunct="0">
              <a:spcBef>
                <a:spcPct val="0"/>
              </a:spcBef>
              <a:spcAft>
                <a:spcPct val="0"/>
              </a:spcAft>
            </a:pPr>
            <a:endParaRPr lang="en-US" altLang="en-US" dirty="0">
              <a:latin typeface="Arial" panose="020B0604020202020204" pitchFamily="34" charset="0"/>
            </a:endParaRPr>
          </a:p>
          <a:p>
            <a:pPr marL="285750" lvl="0" indent="-285750" eaLnBrk="0" fontAlgn="base" hangingPunct="0">
              <a:spcBef>
                <a:spcPct val="0"/>
              </a:spcBef>
              <a:spcAft>
                <a:spcPct val="0"/>
              </a:spcAft>
              <a:buFont typeface="Wingdings" panose="05000000000000000000" pitchFamily="2" charset="2"/>
              <a:buChar char="q"/>
            </a:pPr>
            <a:r>
              <a:rPr lang="en-US" altLang="en-US" dirty="0">
                <a:latin typeface="Century Gothic" panose="020B0502020202020204" pitchFamily="34" charset="0"/>
              </a:rPr>
              <a:t>Hell’s Kitchen was the top-performing store, contributing </a:t>
            </a:r>
            <a:r>
              <a:rPr lang="en-US" altLang="en-US" b="1" dirty="0">
                <a:latin typeface="Century Gothic" panose="020B0502020202020204" pitchFamily="34" charset="0"/>
              </a:rPr>
              <a:t>33.84</a:t>
            </a:r>
            <a:r>
              <a:rPr lang="en-US" altLang="en-US" dirty="0">
                <a:latin typeface="Century Gothic" panose="020B0502020202020204" pitchFamily="34" charset="0"/>
              </a:rPr>
              <a:t>% of revenue, followed by Astoria </a:t>
            </a:r>
            <a:r>
              <a:rPr lang="en-US" altLang="en-US" b="1" dirty="0">
                <a:latin typeface="Century Gothic" panose="020B0502020202020204" pitchFamily="34" charset="0"/>
              </a:rPr>
              <a:t>33.23</a:t>
            </a:r>
            <a:r>
              <a:rPr lang="en-US" altLang="en-US" dirty="0">
                <a:latin typeface="Century Gothic" panose="020B0502020202020204" pitchFamily="34" charset="0"/>
              </a:rPr>
              <a:t>% and Lower Manhattan </a:t>
            </a:r>
            <a:r>
              <a:rPr lang="en-US" altLang="en-US" b="1" dirty="0">
                <a:latin typeface="Century Gothic" panose="020B0502020202020204" pitchFamily="34" charset="0"/>
              </a:rPr>
              <a:t>32.92%</a:t>
            </a:r>
            <a:r>
              <a:rPr lang="en-US" altLang="en-US" dirty="0">
                <a:latin typeface="Century Gothic" panose="020B0502020202020204" pitchFamily="34" charset="0"/>
              </a:rPr>
              <a:t>. </a:t>
            </a:r>
          </a:p>
          <a:p>
            <a:pPr marL="285750" lvl="0" indent="-285750" eaLnBrk="0" fontAlgn="base" hangingPunct="0">
              <a:spcBef>
                <a:spcPct val="0"/>
              </a:spcBef>
              <a:spcAft>
                <a:spcPct val="0"/>
              </a:spcAft>
              <a:buFont typeface="Wingdings" panose="05000000000000000000" pitchFamily="2" charset="2"/>
              <a:buChar char="q"/>
            </a:pPr>
            <a:r>
              <a:rPr lang="en-US" altLang="en-US" dirty="0">
                <a:latin typeface="Century Gothic" panose="020B0502020202020204" pitchFamily="34" charset="0"/>
              </a:rPr>
              <a:t>Performance differences are likely due to location—Hell’s Kitchen benefits from high corporate activity and mall access, attracting a wider customer base, while Lower Manhattan serves mainly office park visitors. </a:t>
            </a:r>
          </a:p>
          <a:p>
            <a:pPr marL="285750" lvl="0" indent="-285750" eaLnBrk="0" fontAlgn="base" hangingPunct="0">
              <a:spcBef>
                <a:spcPct val="0"/>
              </a:spcBef>
              <a:spcAft>
                <a:spcPct val="0"/>
              </a:spcAft>
              <a:buFont typeface="Wingdings" panose="05000000000000000000" pitchFamily="2" charset="2"/>
              <a:buChar char="q"/>
            </a:pPr>
            <a:r>
              <a:rPr lang="en-US" altLang="en-US" dirty="0">
                <a:latin typeface="Century Gothic" panose="020B0502020202020204" pitchFamily="34" charset="0"/>
              </a:rPr>
              <a:t>Sales increased across all stores from January to June, with an overall growth of about 50%. February was the lowest-performing month, with similar performance across stores, followed by steady growth from March to June. </a:t>
            </a:r>
          </a:p>
          <a:p>
            <a:pPr marL="285750" lvl="0" indent="-285750" eaLnBrk="0" fontAlgn="base" hangingPunct="0">
              <a:spcBef>
                <a:spcPct val="0"/>
              </a:spcBef>
              <a:spcAft>
                <a:spcPct val="0"/>
              </a:spcAft>
              <a:buFont typeface="Wingdings" panose="05000000000000000000" pitchFamily="2" charset="2"/>
              <a:buChar char="q"/>
            </a:pPr>
            <a:r>
              <a:rPr lang="en-US" altLang="en-US" dirty="0">
                <a:latin typeface="Century Gothic" panose="020B0502020202020204" pitchFamily="34" charset="0"/>
              </a:rPr>
              <a:t>This trend may be driven by seasonal changes, as colder weather in Johannesburg from March to June increases demand compared to January and February. </a:t>
            </a:r>
          </a:p>
          <a:p>
            <a:endParaRPr lang="en-ZA"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p:cNvGrpSpPr/>
        <p:nvPr/>
      </p:nvGrpSpPr>
      <p:grpSpPr>
        <a:xfrm>
          <a:off x="0" y="0"/>
          <a:ext cx="0" cy="0"/>
          <a:chOff x="0" y="0"/>
          <a:chExt cx="0" cy="0"/>
        </a:xfrm>
      </p:grpSpPr>
      <p:sp>
        <p:nvSpPr>
          <p:cNvPr id="11" name="TextBox 1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
        <p:nvSpPr>
          <p:cNvPr id="14" name="TextBox 13">
            <a:extLst>
              <a:ext uri="{FF2B5EF4-FFF2-40B4-BE49-F238E27FC236}">
                <a16:creationId xmlns:a16="http://schemas.microsoft.com/office/drawing/2014/main" id="{7DCE2018-1FB4-4695-77E7-428EBB717158}"/>
              </a:ext>
            </a:extLst>
          </p:cNvPr>
          <p:cNvSpPr txBox="1"/>
          <p:nvPr/>
        </p:nvSpPr>
        <p:spPr>
          <a:xfrm>
            <a:off x="304800" y="114300"/>
            <a:ext cx="9296400" cy="984885"/>
          </a:xfrm>
          <a:prstGeom prst="rect">
            <a:avLst/>
          </a:prstGeom>
          <a:noFill/>
        </p:spPr>
        <p:txBody>
          <a:bodyPr wrap="square" rtlCol="0">
            <a:spAutoFit/>
          </a:bodyPr>
          <a:lstStyle/>
          <a:p>
            <a:r>
              <a:rPr lang="en-US" sz="4000" b="1" dirty="0">
                <a:solidFill>
                  <a:srgbClr val="000000"/>
                </a:solidFill>
                <a:latin typeface="Century Gothic" panose="020B0502020202020204" pitchFamily="34" charset="0"/>
                <a:ea typeface="ITC Avant Garde Gothic Bold"/>
                <a:cs typeface="ITC Avant Garde Gothic Bold"/>
                <a:sym typeface="ITC Avant Garde Gothic Bold"/>
              </a:rPr>
              <a:t>ANALYSIS: </a:t>
            </a:r>
            <a:r>
              <a:rPr lang="en-US" sz="4000" b="1" dirty="0">
                <a:solidFill>
                  <a:srgbClr val="000000"/>
                </a:solidFill>
                <a:latin typeface="Century Gothic" panose="020B0502020202020204" pitchFamily="34" charset="0"/>
                <a:ea typeface="Canva Sans Bold"/>
                <a:cs typeface="Canva Sans Bold"/>
                <a:sym typeface="Canva Sans Bold"/>
              </a:rPr>
              <a:t>Revenue by Time Bucket</a:t>
            </a:r>
          </a:p>
          <a:p>
            <a:endParaRPr lang="en-ZA" dirty="0"/>
          </a:p>
        </p:txBody>
      </p:sp>
      <p:sp>
        <p:nvSpPr>
          <p:cNvPr id="18" name="TextBox 17">
            <a:extLst>
              <a:ext uri="{FF2B5EF4-FFF2-40B4-BE49-F238E27FC236}">
                <a16:creationId xmlns:a16="http://schemas.microsoft.com/office/drawing/2014/main" id="{3CFCC357-07D1-9526-6AEE-604A2200E3BF}"/>
              </a:ext>
            </a:extLst>
          </p:cNvPr>
          <p:cNvSpPr txBox="1"/>
          <p:nvPr/>
        </p:nvSpPr>
        <p:spPr>
          <a:xfrm>
            <a:off x="685800" y="8810534"/>
            <a:ext cx="14782800" cy="923330"/>
          </a:xfrm>
          <a:prstGeom prst="rect">
            <a:avLst/>
          </a:prstGeom>
          <a:noFill/>
        </p:spPr>
        <p:txBody>
          <a:bodyPr wrap="square" rtlCol="0">
            <a:spAutoFit/>
          </a:bodyPr>
          <a:lstStyle/>
          <a:p>
            <a:pPr marL="285750" indent="-285750">
              <a:buFont typeface="Wingdings" panose="05000000000000000000" pitchFamily="2" charset="2"/>
              <a:buChar char="q"/>
            </a:pPr>
            <a:r>
              <a:rPr lang="en-ZA" dirty="0">
                <a:latin typeface="Century Gothic" panose="020B0502020202020204" pitchFamily="34" charset="0"/>
              </a:rPr>
              <a:t>Mid-morning and rush hour sales contributed </a:t>
            </a:r>
            <a:r>
              <a:rPr lang="en-ZA" b="1" dirty="0">
                <a:latin typeface="Century Gothic" panose="020B0502020202020204" pitchFamily="34" charset="0"/>
              </a:rPr>
              <a:t>55,36</a:t>
            </a:r>
            <a:r>
              <a:rPr lang="en-ZA" dirty="0">
                <a:latin typeface="Century Gothic" panose="020B0502020202020204" pitchFamily="34" charset="0"/>
              </a:rPr>
              <a:t>% of the total sales from Jan to Jun, Afternoon  sales contributed </a:t>
            </a:r>
            <a:r>
              <a:rPr lang="en-ZA" b="1" dirty="0">
                <a:latin typeface="Century Gothic" panose="020B0502020202020204" pitchFamily="34" charset="0"/>
              </a:rPr>
              <a:t>23,30% </a:t>
            </a:r>
            <a:r>
              <a:rPr lang="en-ZA" dirty="0">
                <a:latin typeface="Century Gothic" panose="020B0502020202020204" pitchFamily="34" charset="0"/>
              </a:rPr>
              <a:t>of the total sales with evening and night sales contributed </a:t>
            </a:r>
            <a:r>
              <a:rPr lang="en-ZA" b="1" dirty="0">
                <a:latin typeface="Century Gothic" panose="020B0502020202020204" pitchFamily="34" charset="0"/>
              </a:rPr>
              <a:t>21,34% </a:t>
            </a:r>
            <a:r>
              <a:rPr lang="en-ZA" dirty="0">
                <a:latin typeface="Century Gothic" panose="020B0502020202020204" pitchFamily="34" charset="0"/>
              </a:rPr>
              <a:t>of the total sales. </a:t>
            </a:r>
          </a:p>
          <a:p>
            <a:pPr marL="285750" indent="-285750">
              <a:buFont typeface="Wingdings" panose="05000000000000000000" pitchFamily="2" charset="2"/>
              <a:buChar char="q"/>
            </a:pPr>
            <a:r>
              <a:rPr lang="en-ZA" dirty="0">
                <a:latin typeface="Century Gothic" panose="020B0502020202020204" pitchFamily="34" charset="0"/>
              </a:rPr>
              <a:t>This Could be attributed to the colder mornings especially between March and June. </a:t>
            </a:r>
          </a:p>
        </p:txBody>
      </p:sp>
      <p:graphicFrame>
        <p:nvGraphicFramePr>
          <p:cNvPr id="20" name="Chart 19">
            <a:extLst>
              <a:ext uri="{FF2B5EF4-FFF2-40B4-BE49-F238E27FC236}">
                <a16:creationId xmlns:a16="http://schemas.microsoft.com/office/drawing/2014/main" id="{958C7796-9A5C-1629-8BE2-9DB1203FB88C}"/>
              </a:ext>
            </a:extLst>
          </p:cNvPr>
          <p:cNvGraphicFramePr>
            <a:graphicFrameLocks/>
          </p:cNvGraphicFramePr>
          <p:nvPr>
            <p:extLst>
              <p:ext uri="{D42A27DB-BD31-4B8C-83A1-F6EECF244321}">
                <p14:modId xmlns:p14="http://schemas.microsoft.com/office/powerpoint/2010/main" val="3157163364"/>
              </p:ext>
            </p:extLst>
          </p:nvPr>
        </p:nvGraphicFramePr>
        <p:xfrm>
          <a:off x="0" y="1329147"/>
          <a:ext cx="10812689" cy="731955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1" name="Chart 20">
            <a:extLst>
              <a:ext uri="{FF2B5EF4-FFF2-40B4-BE49-F238E27FC236}">
                <a16:creationId xmlns:a16="http://schemas.microsoft.com/office/drawing/2014/main" id="{F2DA31CC-03F2-4262-9CBE-1643356429ED}"/>
              </a:ext>
            </a:extLst>
          </p:cNvPr>
          <p:cNvGraphicFramePr>
            <a:graphicFrameLocks/>
          </p:cNvGraphicFramePr>
          <p:nvPr>
            <p:extLst>
              <p:ext uri="{D42A27DB-BD31-4B8C-83A1-F6EECF244321}">
                <p14:modId xmlns:p14="http://schemas.microsoft.com/office/powerpoint/2010/main" val="4176239664"/>
              </p:ext>
            </p:extLst>
          </p:nvPr>
        </p:nvGraphicFramePr>
        <p:xfrm>
          <a:off x="8991600" y="800100"/>
          <a:ext cx="9296400" cy="6705600"/>
        </p:xfrm>
        <a:graphic>
          <a:graphicData uri="http://schemas.openxmlformats.org/drawingml/2006/chart">
            <c:chart xmlns:c="http://schemas.openxmlformats.org/drawingml/2006/chart" xmlns:r="http://schemas.openxmlformats.org/officeDocument/2006/relationships" r:id="rId3"/>
          </a:graphicData>
        </a:graphic>
      </p:graphicFrame>
      <p:sp>
        <p:nvSpPr>
          <p:cNvPr id="22" name="Freeform 4">
            <a:extLst>
              <a:ext uri="{FF2B5EF4-FFF2-40B4-BE49-F238E27FC236}">
                <a16:creationId xmlns:a16="http://schemas.microsoft.com/office/drawing/2014/main" id="{DCEDE5BD-8B33-E4BE-BD5D-247459B62C8B}"/>
              </a:ext>
            </a:extLst>
          </p:cNvPr>
          <p:cNvSpPr/>
          <p:nvPr/>
        </p:nvSpPr>
        <p:spPr>
          <a:xfrm>
            <a:off x="14325600" y="7527471"/>
            <a:ext cx="5216002" cy="5939547"/>
          </a:xfrm>
          <a:custGeom>
            <a:avLst/>
            <a:gdLst/>
            <a:ahLst/>
            <a:cxnLst/>
            <a:rect l="l" t="t" r="r" b="b"/>
            <a:pathLst>
              <a:path w="5216002" h="5939547">
                <a:moveTo>
                  <a:pt x="0" y="0"/>
                </a:moveTo>
                <a:lnTo>
                  <a:pt x="5216002" y="0"/>
                </a:lnTo>
                <a:lnTo>
                  <a:pt x="5216002" y="5939547"/>
                </a:lnTo>
                <a:lnTo>
                  <a:pt x="0" y="5939547"/>
                </a:lnTo>
                <a:lnTo>
                  <a:pt x="0" y="0"/>
                </a:lnTo>
                <a:close/>
              </a:path>
            </a:pathLst>
          </a:custGeom>
          <a:blipFill>
            <a:blip r:embed="rId4">
              <a:extLst>
                <a:ext uri="{96DAC541-7B7A-43D3-8B79-37D633B846F1}">
                  <asvg:svgBlip xmlns:asvg="http://schemas.microsoft.com/office/drawing/2016/SVG/main" r:embed="rId5"/>
                </a:ext>
              </a:extLst>
            </a:blip>
            <a:stretch>
              <a:fillRect l="-16" r="-16"/>
            </a:stretch>
          </a:blipFill>
        </p:spPr>
        <p:txBody>
          <a:bodyPr/>
          <a:lstStyle/>
          <a:p>
            <a:endParaRPr lang="en-ZA"/>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p:cNvGrpSpPr/>
        <p:nvPr/>
      </p:nvGrpSpPr>
      <p:grpSpPr>
        <a:xfrm>
          <a:off x="0" y="0"/>
          <a:ext cx="0" cy="0"/>
          <a:chOff x="0" y="0"/>
          <a:chExt cx="0" cy="0"/>
        </a:xfrm>
      </p:grpSpPr>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
        <p:nvSpPr>
          <p:cNvPr id="11" name="TextBox 10">
            <a:extLst>
              <a:ext uri="{FF2B5EF4-FFF2-40B4-BE49-F238E27FC236}">
                <a16:creationId xmlns:a16="http://schemas.microsoft.com/office/drawing/2014/main" id="{F7EBEF8B-2A78-0F22-340F-CBD39CDDAEF0}"/>
              </a:ext>
            </a:extLst>
          </p:cNvPr>
          <p:cNvSpPr txBox="1"/>
          <p:nvPr/>
        </p:nvSpPr>
        <p:spPr>
          <a:xfrm>
            <a:off x="533400" y="190500"/>
            <a:ext cx="11430000" cy="984885"/>
          </a:xfrm>
          <a:prstGeom prst="rect">
            <a:avLst/>
          </a:prstGeom>
          <a:noFill/>
        </p:spPr>
        <p:txBody>
          <a:bodyPr wrap="square" rtlCol="0">
            <a:spAutoFit/>
          </a:bodyPr>
          <a:lstStyle/>
          <a:p>
            <a:r>
              <a:rPr lang="en-US" sz="4000" b="1" dirty="0">
                <a:solidFill>
                  <a:srgbClr val="000000"/>
                </a:solidFill>
                <a:latin typeface="Century Gothic" panose="020B0502020202020204" pitchFamily="34" charset="0"/>
                <a:ea typeface="ITC Avant Garde Gothic Bold"/>
                <a:cs typeface="ITC Avant Garde Gothic Bold"/>
                <a:sym typeface="ITC Avant Garde Gothic Bold"/>
              </a:rPr>
              <a:t>ANALYSIS: </a:t>
            </a:r>
            <a:r>
              <a:rPr lang="en-US" sz="4000" b="1" dirty="0">
                <a:solidFill>
                  <a:srgbClr val="000000"/>
                </a:solidFill>
                <a:latin typeface="Century Gothic" panose="020B0502020202020204" pitchFamily="34" charset="0"/>
                <a:ea typeface="Canva Sans Bold"/>
                <a:cs typeface="Canva Sans Bold"/>
                <a:sym typeface="Canva Sans Bold"/>
              </a:rPr>
              <a:t>Revenue by Product Category</a:t>
            </a:r>
          </a:p>
          <a:p>
            <a:endParaRPr lang="en-ZA" dirty="0"/>
          </a:p>
        </p:txBody>
      </p:sp>
      <p:graphicFrame>
        <p:nvGraphicFramePr>
          <p:cNvPr id="12" name="Chart 11">
            <a:extLst>
              <a:ext uri="{FF2B5EF4-FFF2-40B4-BE49-F238E27FC236}">
                <a16:creationId xmlns:a16="http://schemas.microsoft.com/office/drawing/2014/main" id="{46485AE4-E100-FE9C-2C32-9A03E7B33A7D}"/>
              </a:ext>
            </a:extLst>
          </p:cNvPr>
          <p:cNvGraphicFramePr>
            <a:graphicFrameLocks/>
          </p:cNvGraphicFramePr>
          <p:nvPr>
            <p:extLst>
              <p:ext uri="{D42A27DB-BD31-4B8C-83A1-F6EECF244321}">
                <p14:modId xmlns:p14="http://schemas.microsoft.com/office/powerpoint/2010/main" val="765533211"/>
              </p:ext>
            </p:extLst>
          </p:nvPr>
        </p:nvGraphicFramePr>
        <p:xfrm>
          <a:off x="-152400" y="1175385"/>
          <a:ext cx="14173200" cy="472417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Chart 12">
            <a:extLst>
              <a:ext uri="{FF2B5EF4-FFF2-40B4-BE49-F238E27FC236}">
                <a16:creationId xmlns:a16="http://schemas.microsoft.com/office/drawing/2014/main" id="{5ECDF74F-269D-F721-9304-88A66EE12B64}"/>
              </a:ext>
            </a:extLst>
          </p:cNvPr>
          <p:cNvGraphicFramePr>
            <a:graphicFrameLocks/>
          </p:cNvGraphicFramePr>
          <p:nvPr>
            <p:extLst>
              <p:ext uri="{D42A27DB-BD31-4B8C-83A1-F6EECF244321}">
                <p14:modId xmlns:p14="http://schemas.microsoft.com/office/powerpoint/2010/main" val="1775270926"/>
              </p:ext>
            </p:extLst>
          </p:nvPr>
        </p:nvGraphicFramePr>
        <p:xfrm>
          <a:off x="152400" y="5676900"/>
          <a:ext cx="9220200" cy="461010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Box 16">
            <a:extLst>
              <a:ext uri="{FF2B5EF4-FFF2-40B4-BE49-F238E27FC236}">
                <a16:creationId xmlns:a16="http://schemas.microsoft.com/office/drawing/2014/main" id="{447FB1B0-2528-2DB9-A2CD-581B6D39B794}"/>
              </a:ext>
            </a:extLst>
          </p:cNvPr>
          <p:cNvSpPr txBox="1"/>
          <p:nvPr/>
        </p:nvSpPr>
        <p:spPr>
          <a:xfrm>
            <a:off x="8673193" y="6316648"/>
            <a:ext cx="9220200" cy="297226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Coffee is the leading category, contributing </a:t>
            </a:r>
            <a:r>
              <a:rPr kumimoji="0" lang="en-US" altLang="en-US" sz="1800" b="1" i="0" u="none" strike="noStrike" cap="none" normalizeH="0" baseline="0" dirty="0">
                <a:ln>
                  <a:noFill/>
                </a:ln>
                <a:solidFill>
                  <a:schemeClr val="tx1"/>
                </a:solidFill>
                <a:effectLst/>
                <a:latin typeface="Century Gothic" panose="020B0502020202020204" pitchFamily="34" charset="0"/>
              </a:rPr>
              <a:t>12.84%</a:t>
            </a:r>
            <a:r>
              <a:rPr kumimoji="0" lang="en-US" altLang="en-US" sz="1800" b="0" i="0" u="none" strike="noStrike" cap="none" normalizeH="0" baseline="0" dirty="0">
                <a:ln>
                  <a:noFill/>
                </a:ln>
                <a:solidFill>
                  <a:schemeClr val="tx1"/>
                </a:solidFill>
                <a:effectLst/>
                <a:latin typeface="Century Gothic" panose="020B0502020202020204" pitchFamily="34" charset="0"/>
              </a:rPr>
              <a:t> of total product performance, followed by Tea at </a:t>
            </a:r>
            <a:r>
              <a:rPr kumimoji="0" lang="en-US" altLang="en-US" sz="1800" b="1" i="0" u="none" strike="noStrike" cap="none" normalizeH="0" baseline="0" dirty="0">
                <a:ln>
                  <a:noFill/>
                </a:ln>
                <a:solidFill>
                  <a:schemeClr val="tx1"/>
                </a:solidFill>
                <a:effectLst/>
                <a:latin typeface="Century Gothic" panose="020B0502020202020204" pitchFamily="34" charset="0"/>
              </a:rPr>
              <a:t>9.71%</a:t>
            </a:r>
            <a:r>
              <a:rPr kumimoji="0" lang="en-US" altLang="en-US" sz="1800" b="0" i="0" u="none" strike="noStrike" cap="none" normalizeH="0" baseline="0" dirty="0">
                <a:ln>
                  <a:noFill/>
                </a:ln>
                <a:solidFill>
                  <a:schemeClr val="tx1"/>
                </a:solidFill>
                <a:effectLst/>
                <a:latin typeface="Century Gothic" panose="020B0502020202020204" pitchFamily="34" charset="0"/>
              </a:rPr>
              <a:t>, confirming that beverages dominate overall sales volume across all stores.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Hell’s Kitchen slightly leads in high-volume categories like Coffee with just over </a:t>
            </a:r>
            <a:r>
              <a:rPr kumimoji="0" lang="en-US" altLang="en-US" sz="1800" b="1" i="0" u="none" strike="noStrike" cap="none" normalizeH="0" baseline="0" dirty="0">
                <a:ln>
                  <a:noFill/>
                </a:ln>
                <a:solidFill>
                  <a:schemeClr val="tx1"/>
                </a:solidFill>
                <a:effectLst/>
                <a:latin typeface="Century Gothic" panose="020B0502020202020204" pitchFamily="34" charset="0"/>
              </a:rPr>
              <a:t>30% </a:t>
            </a:r>
            <a:r>
              <a:rPr kumimoji="0" lang="en-US" altLang="en-US" sz="1800" i="0" u="none" strike="noStrike" cap="none" normalizeH="0" baseline="0" dirty="0">
                <a:ln>
                  <a:noFill/>
                </a:ln>
                <a:solidFill>
                  <a:schemeClr val="tx1"/>
                </a:solidFill>
                <a:effectLst/>
                <a:latin typeface="Century Gothic" panose="020B0502020202020204" pitchFamily="34" charset="0"/>
              </a:rPr>
              <a:t>share by quantity among stores</a:t>
            </a:r>
            <a:r>
              <a:rPr kumimoji="0" lang="en-US" altLang="en-US" sz="1800" b="0" i="0" u="none" strike="noStrike" cap="none" normalizeH="0" baseline="0" dirty="0">
                <a:ln>
                  <a:noFill/>
                </a:ln>
                <a:solidFill>
                  <a:schemeClr val="tx1"/>
                </a:solidFill>
                <a:effectLst/>
                <a:latin typeface="Century Gothic" panose="020B0502020202020204" pitchFamily="34" charset="0"/>
              </a:rPr>
              <a:t>) and Coffee Beans, while Lower Manhattan performs better in Flavors (</a:t>
            </a:r>
            <a:r>
              <a:rPr kumimoji="0" lang="en-US" altLang="en-US" sz="1800" b="1" i="0" u="none" strike="noStrike" cap="none" normalizeH="0" baseline="0" dirty="0">
                <a:ln>
                  <a:noFill/>
                </a:ln>
                <a:solidFill>
                  <a:schemeClr val="tx1"/>
                </a:solidFill>
                <a:effectLst/>
                <a:latin typeface="Century Gothic" panose="020B0502020202020204" pitchFamily="34" charset="0"/>
              </a:rPr>
              <a:t>~3.77% </a:t>
            </a:r>
            <a:r>
              <a:rPr kumimoji="0" lang="en-US" altLang="en-US" sz="1800" i="0" u="none" strike="noStrike" cap="none" normalizeH="0" baseline="0" dirty="0">
                <a:ln>
                  <a:noFill/>
                </a:ln>
                <a:solidFill>
                  <a:schemeClr val="tx1"/>
                </a:solidFill>
                <a:effectLst/>
                <a:latin typeface="Century Gothic" panose="020B0502020202020204" pitchFamily="34" charset="0"/>
              </a:rPr>
              <a:t>contribution</a:t>
            </a:r>
            <a:r>
              <a:rPr kumimoji="0" lang="en-US" altLang="en-US" sz="1800" b="0" i="0" u="none" strike="noStrike" cap="none" normalizeH="0" baseline="0" dirty="0">
                <a:ln>
                  <a:noFill/>
                </a:ln>
                <a:solidFill>
                  <a:schemeClr val="tx1"/>
                </a:solidFill>
                <a:effectLst/>
                <a:latin typeface="Century Gothic" panose="020B0502020202020204" pitchFamily="34" charset="0"/>
              </a:rPr>
              <a:t>), indicating location-based customer preferences.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Century Gothic" panose="020B0502020202020204" pitchFamily="34" charset="0"/>
              </a:rPr>
              <a:t>Low-performing categories include Branded (</a:t>
            </a:r>
            <a:r>
              <a:rPr kumimoji="0" lang="en-US" altLang="en-US" sz="1800" b="1" i="0" u="none" strike="noStrike" cap="none" normalizeH="0" baseline="0" dirty="0">
                <a:ln>
                  <a:noFill/>
                </a:ln>
                <a:solidFill>
                  <a:schemeClr val="tx1"/>
                </a:solidFill>
                <a:effectLst/>
                <a:latin typeface="Century Gothic" panose="020B0502020202020204" pitchFamily="34" charset="0"/>
              </a:rPr>
              <a:t>0.78%</a:t>
            </a:r>
            <a:r>
              <a:rPr kumimoji="0" lang="en-US" altLang="en-US" sz="1800" b="0" i="0" u="none" strike="noStrike" cap="none" normalizeH="0" baseline="0" dirty="0">
                <a:ln>
                  <a:noFill/>
                </a:ln>
                <a:solidFill>
                  <a:schemeClr val="tx1"/>
                </a:solidFill>
                <a:effectLst/>
                <a:latin typeface="Century Gothic" panose="020B0502020202020204" pitchFamily="34" charset="0"/>
              </a:rPr>
              <a:t>), Packaged Chocolate (</a:t>
            </a:r>
            <a:r>
              <a:rPr kumimoji="0" lang="en-US" altLang="en-US" sz="1800" b="1" i="0" u="none" strike="noStrike" cap="none" normalizeH="0" baseline="0" dirty="0">
                <a:ln>
                  <a:noFill/>
                </a:ln>
                <a:solidFill>
                  <a:schemeClr val="tx1"/>
                </a:solidFill>
                <a:effectLst/>
                <a:latin typeface="Century Gothic" panose="020B0502020202020204" pitchFamily="34" charset="0"/>
              </a:rPr>
              <a:t>0.16%</a:t>
            </a:r>
            <a:r>
              <a:rPr kumimoji="0" lang="en-US" altLang="en-US" sz="1800" b="0" i="0" u="none" strike="noStrike" cap="none" normalizeH="0" baseline="0" dirty="0">
                <a:ln>
                  <a:noFill/>
                </a:ln>
                <a:solidFill>
                  <a:schemeClr val="tx1"/>
                </a:solidFill>
                <a:effectLst/>
                <a:latin typeface="Century Gothic" panose="020B0502020202020204" pitchFamily="34" charset="0"/>
              </a:rPr>
              <a:t>), Loose Tea (</a:t>
            </a:r>
            <a:r>
              <a:rPr kumimoji="0" lang="en-US" altLang="en-US" sz="1800" b="1" i="0" u="none" strike="noStrike" cap="none" normalizeH="0" baseline="0" dirty="0">
                <a:ln>
                  <a:noFill/>
                </a:ln>
                <a:solidFill>
                  <a:schemeClr val="tx1"/>
                </a:solidFill>
                <a:effectLst/>
                <a:latin typeface="Century Gothic" panose="020B0502020202020204" pitchFamily="34" charset="0"/>
              </a:rPr>
              <a:t>0.25%</a:t>
            </a:r>
            <a:r>
              <a:rPr kumimoji="0" lang="en-US" altLang="en-US" sz="1800" b="0" i="0" u="none" strike="noStrike" cap="none" normalizeH="0" baseline="0" dirty="0">
                <a:ln>
                  <a:noFill/>
                </a:ln>
                <a:solidFill>
                  <a:schemeClr val="tx1"/>
                </a:solidFill>
                <a:effectLst/>
                <a:latin typeface="Century Gothic" panose="020B0502020202020204" pitchFamily="34" charset="0"/>
              </a:rPr>
              <a:t>), and Coffee Beans (</a:t>
            </a:r>
            <a:r>
              <a:rPr kumimoji="0" lang="en-US" altLang="en-US" sz="1800" b="1" i="0" u="none" strike="noStrike" cap="none" normalizeH="0" baseline="0" dirty="0">
                <a:ln>
                  <a:noFill/>
                </a:ln>
                <a:solidFill>
                  <a:schemeClr val="tx1"/>
                </a:solidFill>
                <a:effectLst/>
                <a:latin typeface="Century Gothic" panose="020B0502020202020204" pitchFamily="34" charset="0"/>
              </a:rPr>
              <a:t>1.46%</a:t>
            </a:r>
            <a:r>
              <a:rPr kumimoji="0" lang="en-US" altLang="en-US" sz="1800" b="0" i="0" u="none" strike="noStrike" cap="none" normalizeH="0" baseline="0" dirty="0">
                <a:ln>
                  <a:noFill/>
                </a:ln>
                <a:solidFill>
                  <a:schemeClr val="tx1"/>
                </a:solidFill>
                <a:effectLst/>
                <a:latin typeface="Century Gothic" panose="020B0502020202020204" pitchFamily="34" charset="0"/>
              </a:rPr>
              <a:t>), each contributing less than </a:t>
            </a:r>
            <a:r>
              <a:rPr kumimoji="0" lang="en-US" altLang="en-US" sz="1800" b="1" i="0" u="none" strike="noStrike" cap="none" normalizeH="0" baseline="0" dirty="0">
                <a:ln>
                  <a:noFill/>
                </a:ln>
                <a:solidFill>
                  <a:schemeClr val="tx1"/>
                </a:solidFill>
                <a:effectLst/>
                <a:latin typeface="Century Gothic" panose="020B0502020202020204" pitchFamily="34" charset="0"/>
              </a:rPr>
              <a:t>2%</a:t>
            </a:r>
            <a:r>
              <a:rPr kumimoji="0" lang="en-US" altLang="en-US" sz="1800" b="0" i="0" u="none" strike="noStrike" cap="none" normalizeH="0" baseline="0" dirty="0">
                <a:ln>
                  <a:noFill/>
                </a:ln>
                <a:solidFill>
                  <a:schemeClr val="tx1"/>
                </a:solidFill>
                <a:effectLst/>
                <a:latin typeface="Century Gothic" panose="020B0502020202020204" pitchFamily="34" charset="0"/>
              </a:rPr>
              <a:t>, highlighting opportunities for growth or product optimization. </a:t>
            </a:r>
          </a:p>
        </p:txBody>
      </p:sp>
      <p:sp>
        <p:nvSpPr>
          <p:cNvPr id="18" name="Freeform 4">
            <a:extLst>
              <a:ext uri="{FF2B5EF4-FFF2-40B4-BE49-F238E27FC236}">
                <a16:creationId xmlns:a16="http://schemas.microsoft.com/office/drawing/2014/main" id="{B2C0AAB5-AF7A-1A0A-ED86-9C2EC4464DA3}"/>
              </a:ext>
            </a:extLst>
          </p:cNvPr>
          <p:cNvSpPr/>
          <p:nvPr/>
        </p:nvSpPr>
        <p:spPr>
          <a:xfrm>
            <a:off x="13547271" y="158947"/>
            <a:ext cx="4740729" cy="5101347"/>
          </a:xfrm>
          <a:custGeom>
            <a:avLst/>
            <a:gdLst/>
            <a:ahLst/>
            <a:cxnLst/>
            <a:rect l="l" t="t" r="r" b="b"/>
            <a:pathLst>
              <a:path w="5216002" h="5939547">
                <a:moveTo>
                  <a:pt x="0" y="0"/>
                </a:moveTo>
                <a:lnTo>
                  <a:pt x="5216002" y="0"/>
                </a:lnTo>
                <a:lnTo>
                  <a:pt x="5216002" y="5939547"/>
                </a:lnTo>
                <a:lnTo>
                  <a:pt x="0" y="5939547"/>
                </a:lnTo>
                <a:lnTo>
                  <a:pt x="0" y="0"/>
                </a:lnTo>
                <a:close/>
              </a:path>
            </a:pathLst>
          </a:custGeom>
          <a:blipFill>
            <a:blip r:embed="rId4">
              <a:extLst>
                <a:ext uri="{96DAC541-7B7A-43D3-8B79-37D633B846F1}">
                  <asvg:svgBlip xmlns:asvg="http://schemas.microsoft.com/office/drawing/2016/SVG/main" r:embed="rId5"/>
                </a:ext>
              </a:extLst>
            </a:blip>
            <a:stretch>
              <a:fillRect l="-16" r="-16"/>
            </a:stretch>
          </a:blipFill>
        </p:spPr>
        <p:txBody>
          <a:bodyPr/>
          <a:lstStyle/>
          <a:p>
            <a:endParaRPr lang="en-ZA"/>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p:cNvGrpSpPr/>
        <p:nvPr/>
      </p:nvGrpSpPr>
      <p:grpSpPr>
        <a:xfrm>
          <a:off x="0" y="0"/>
          <a:ext cx="0" cy="0"/>
          <a:chOff x="0" y="0"/>
          <a:chExt cx="0" cy="0"/>
        </a:xfrm>
      </p:grpSpPr>
      <p:sp>
        <p:nvSpPr>
          <p:cNvPr id="10" name="Freeform 10"/>
          <p:cNvSpPr/>
          <p:nvPr/>
        </p:nvSpPr>
        <p:spPr>
          <a:xfrm>
            <a:off x="2362200" y="7962899"/>
            <a:ext cx="13716000" cy="2307771"/>
          </a:xfrm>
          <a:custGeom>
            <a:avLst/>
            <a:gdLst/>
            <a:ahLst/>
            <a:cxnLst/>
            <a:rect l="l" t="t" r="r" b="b"/>
            <a:pathLst>
              <a:path w="10178664" h="3294186">
                <a:moveTo>
                  <a:pt x="0" y="0"/>
                </a:moveTo>
                <a:lnTo>
                  <a:pt x="10178664" y="0"/>
                </a:lnTo>
                <a:lnTo>
                  <a:pt x="10178664" y="3294186"/>
                </a:lnTo>
                <a:lnTo>
                  <a:pt x="0" y="3294186"/>
                </a:lnTo>
                <a:lnTo>
                  <a:pt x="0" y="0"/>
                </a:lnTo>
                <a:close/>
              </a:path>
            </a:pathLst>
          </a:custGeom>
          <a:blipFill>
            <a:blip r:embed="rId2">
              <a:extLst>
                <a:ext uri="{96DAC541-7B7A-43D3-8B79-37D633B846F1}">
                  <asvg:svgBlip xmlns:asvg="http://schemas.microsoft.com/office/drawing/2016/SVG/main" r:embed="rId3"/>
                </a:ext>
              </a:extLst>
            </a:blip>
            <a:stretch>
              <a:fillRect l="-111" r="-111"/>
            </a:stretch>
          </a:blipFill>
        </p:spPr>
        <p:txBody>
          <a:bodyPr/>
          <a:lstStyle/>
          <a:p>
            <a:endParaRPr lang="en-ZA"/>
          </a:p>
        </p:txBody>
      </p:sp>
      <p:sp>
        <p:nvSpPr>
          <p:cNvPr id="11" name="TextBox 1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
        <p:nvSpPr>
          <p:cNvPr id="12" name="Title 11">
            <a:extLst>
              <a:ext uri="{FF2B5EF4-FFF2-40B4-BE49-F238E27FC236}">
                <a16:creationId xmlns:a16="http://schemas.microsoft.com/office/drawing/2014/main" id="{88BE9B79-CF9D-5128-2F8C-D4BF696BEA61}"/>
              </a:ext>
            </a:extLst>
          </p:cNvPr>
          <p:cNvSpPr>
            <a:spLocks noGrp="1"/>
          </p:cNvSpPr>
          <p:nvPr>
            <p:ph type="title"/>
          </p:nvPr>
        </p:nvSpPr>
        <p:spPr>
          <a:xfrm>
            <a:off x="457200" y="266700"/>
            <a:ext cx="5334000" cy="1143000"/>
          </a:xfrm>
        </p:spPr>
        <p:txBody>
          <a:bodyPr>
            <a:normAutofit/>
          </a:bodyPr>
          <a:lstStyle/>
          <a:p>
            <a:r>
              <a:rPr lang="en-ZA" sz="4000" b="1" dirty="0">
                <a:latin typeface="Century Gothic" panose="020B0502020202020204" pitchFamily="34" charset="0"/>
              </a:rPr>
              <a:t>RECOMMENDATIONS</a:t>
            </a:r>
          </a:p>
        </p:txBody>
      </p:sp>
      <p:sp>
        <p:nvSpPr>
          <p:cNvPr id="13" name="Content Placeholder 12">
            <a:extLst>
              <a:ext uri="{FF2B5EF4-FFF2-40B4-BE49-F238E27FC236}">
                <a16:creationId xmlns:a16="http://schemas.microsoft.com/office/drawing/2014/main" id="{04256571-89B5-A7EB-0053-4C97E4D08B91}"/>
              </a:ext>
            </a:extLst>
          </p:cNvPr>
          <p:cNvSpPr>
            <a:spLocks noGrp="1"/>
          </p:cNvSpPr>
          <p:nvPr>
            <p:ph idx="1"/>
          </p:nvPr>
        </p:nvSpPr>
        <p:spPr/>
        <p:txBody>
          <a:bodyPr>
            <a:normAutofit/>
          </a:bodyPr>
          <a:lstStyle/>
          <a:p>
            <a:r>
              <a:rPr lang="en-ZA" sz="1800" b="1" u="sng" dirty="0">
                <a:latin typeface="Century Gothic" panose="020B0502020202020204" pitchFamily="34" charset="0"/>
              </a:rPr>
              <a:t>Store Operations</a:t>
            </a:r>
          </a:p>
          <a:p>
            <a:pPr lvl="1"/>
            <a:r>
              <a:rPr lang="en-ZA" sz="1800" dirty="0">
                <a:latin typeface="Century Gothic" panose="020B0502020202020204" pitchFamily="34" charset="0"/>
              </a:rPr>
              <a:t>The business should consider introducing a mobile application platform and delivery services, to mitigate waiting times. </a:t>
            </a:r>
          </a:p>
          <a:p>
            <a:pPr lvl="1"/>
            <a:r>
              <a:rPr lang="en-ZA" sz="1800" dirty="0">
                <a:latin typeface="Century Gothic" panose="020B0502020202020204" pitchFamily="34" charset="0"/>
              </a:rPr>
              <a:t>Avoid overstocking on low selling products to ensure that there is balance of stock and sales</a:t>
            </a:r>
          </a:p>
          <a:p>
            <a:pPr lvl="1"/>
            <a:r>
              <a:rPr lang="en-ZA" sz="1800" dirty="0">
                <a:latin typeface="Century Gothic" panose="020B0502020202020204" pitchFamily="34" charset="0"/>
              </a:rPr>
              <a:t>Implement customer feedback channels and to study purchasing patterns to see what are customers preferred products</a:t>
            </a:r>
          </a:p>
        </p:txBody>
      </p:sp>
      <p:sp>
        <p:nvSpPr>
          <p:cNvPr id="14" name="Content Placeholder 12">
            <a:extLst>
              <a:ext uri="{FF2B5EF4-FFF2-40B4-BE49-F238E27FC236}">
                <a16:creationId xmlns:a16="http://schemas.microsoft.com/office/drawing/2014/main" id="{524E1C06-8251-50C7-D225-32FEC37CFD24}"/>
              </a:ext>
            </a:extLst>
          </p:cNvPr>
          <p:cNvSpPr txBox="1">
            <a:spLocks/>
          </p:cNvSpPr>
          <p:nvPr/>
        </p:nvSpPr>
        <p:spPr>
          <a:xfrm>
            <a:off x="8915400" y="3695700"/>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ZA" sz="1900" b="1" u="sng" dirty="0">
                <a:latin typeface="Century Gothic" panose="020B0502020202020204" pitchFamily="34" charset="0"/>
              </a:rPr>
              <a:t>Product and Store Promotions</a:t>
            </a:r>
          </a:p>
          <a:p>
            <a:pPr lvl="1"/>
            <a:r>
              <a:rPr lang="en-ZA" sz="1900" dirty="0">
                <a:latin typeface="Century Gothic" panose="020B0502020202020204" pitchFamily="34" charset="0"/>
              </a:rPr>
              <a:t>Have daily and weekly specials such as 2 for 1 specials on the beverages (coffees and teas).</a:t>
            </a:r>
          </a:p>
          <a:p>
            <a:pPr lvl="1"/>
            <a:r>
              <a:rPr lang="en-ZA" sz="1900" dirty="0">
                <a:latin typeface="Century Gothic" panose="020B0502020202020204" pitchFamily="34" charset="0"/>
              </a:rPr>
              <a:t>Include promotions on multiple purchases (e.g. free muffin for every two coffees/tea bought) </a:t>
            </a:r>
          </a:p>
          <a:p>
            <a:pPr lvl="1"/>
            <a:r>
              <a:rPr lang="en-ZA" sz="1900" dirty="0">
                <a:latin typeface="Century Gothic" panose="020B0502020202020204" pitchFamily="34" charset="0"/>
              </a:rPr>
              <a:t>Introduce loyalty programs and incentives for regular customers (such as in-app deals </a:t>
            </a:r>
          </a:p>
          <a:p>
            <a:pPr lvl="1"/>
            <a:r>
              <a:rPr lang="en-ZA" sz="1900" dirty="0">
                <a:latin typeface="Century Gothic" panose="020B0502020202020204" pitchFamily="34" charset="0"/>
              </a:rPr>
              <a:t>Run seasonal promotions to promote popular seasonal products (Coffee/tea and muffins/Scones for winter season and Iced Coffee/Tea for summer seasons</a:t>
            </a:r>
          </a:p>
          <a:p>
            <a:pPr lvl="1"/>
            <a:endParaRPr lang="en-ZA" dirty="0"/>
          </a:p>
          <a:p>
            <a:pPr lvl="1"/>
            <a:endParaRPr lang="en-ZA" dirty="0"/>
          </a:p>
        </p:txBody>
      </p:sp>
      <p:sp>
        <p:nvSpPr>
          <p:cNvPr id="15" name="Freeform 6"/>
          <p:cNvSpPr/>
          <p:nvPr/>
        </p:nvSpPr>
        <p:spPr>
          <a:xfrm>
            <a:off x="10896600" y="367862"/>
            <a:ext cx="3657600" cy="3040063"/>
          </a:xfrm>
          <a:custGeom>
            <a:avLst/>
            <a:gdLst/>
            <a:ahLst/>
            <a:cxnLst/>
            <a:rect l="l" t="t" r="r" b="b"/>
            <a:pathLst>
              <a:path w="6790619" h="5691774">
                <a:moveTo>
                  <a:pt x="0" y="0"/>
                </a:moveTo>
                <a:lnTo>
                  <a:pt x="6790619" y="0"/>
                </a:lnTo>
                <a:lnTo>
                  <a:pt x="6790619" y="5691774"/>
                </a:lnTo>
                <a:lnTo>
                  <a:pt x="0" y="5691774"/>
                </a:lnTo>
                <a:lnTo>
                  <a:pt x="0" y="0"/>
                </a:lnTo>
                <a:close/>
              </a:path>
            </a:pathLst>
          </a:custGeom>
          <a:blipFill>
            <a:blip r:embed="rId4">
              <a:extLst>
                <a:ext uri="{96DAC541-7B7A-43D3-8B79-37D633B846F1}">
                  <asvg:svgBlip xmlns:asvg="http://schemas.microsoft.com/office/drawing/2016/SVG/main" r:embed="rId5"/>
                </a:ext>
              </a:extLst>
            </a:blip>
            <a:stretch>
              <a:fillRect t="-35" b="-35"/>
            </a:stretch>
          </a:blipFill>
        </p:spPr>
        <p:txBody>
          <a:bodyPr/>
          <a:lstStyle/>
          <a:p>
            <a:endParaRPr lang="en-ZA"/>
          </a:p>
        </p:txBody>
      </p:sp>
      <p:sp>
        <p:nvSpPr>
          <p:cNvPr id="16" name="Freeform 5"/>
          <p:cNvSpPr/>
          <p:nvPr/>
        </p:nvSpPr>
        <p:spPr>
          <a:xfrm>
            <a:off x="5791200" y="3999108"/>
            <a:ext cx="2105975" cy="3196430"/>
          </a:xfrm>
          <a:custGeom>
            <a:avLst/>
            <a:gdLst/>
            <a:ahLst/>
            <a:cxnLst/>
            <a:rect l="l" t="t" r="r" b="b"/>
            <a:pathLst>
              <a:path w="2105975" h="3196430">
                <a:moveTo>
                  <a:pt x="0" y="0"/>
                </a:moveTo>
                <a:lnTo>
                  <a:pt x="2105975" y="0"/>
                </a:lnTo>
                <a:lnTo>
                  <a:pt x="2105975" y="3196430"/>
                </a:lnTo>
                <a:lnTo>
                  <a:pt x="0" y="31964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ZA"/>
          </a:p>
        </p:txBody>
      </p:sp>
      <p:sp>
        <p:nvSpPr>
          <p:cNvPr id="17" name="Freeform 6"/>
          <p:cNvSpPr/>
          <p:nvPr/>
        </p:nvSpPr>
        <p:spPr>
          <a:xfrm>
            <a:off x="2362200" y="3825767"/>
            <a:ext cx="3034192" cy="3543112"/>
          </a:xfrm>
          <a:custGeom>
            <a:avLst/>
            <a:gdLst/>
            <a:ahLst/>
            <a:cxnLst/>
            <a:rect l="l" t="t" r="r" b="b"/>
            <a:pathLst>
              <a:path w="3034192" h="3543112">
                <a:moveTo>
                  <a:pt x="0" y="0"/>
                </a:moveTo>
                <a:lnTo>
                  <a:pt x="3034192" y="0"/>
                </a:lnTo>
                <a:lnTo>
                  <a:pt x="3034192" y="3543112"/>
                </a:lnTo>
                <a:lnTo>
                  <a:pt x="0" y="3543112"/>
                </a:lnTo>
                <a:lnTo>
                  <a:pt x="0" y="0"/>
                </a:lnTo>
                <a:close/>
              </a:path>
            </a:pathLst>
          </a:custGeom>
          <a:blipFill>
            <a:blip r:embed="rId8">
              <a:extLst>
                <a:ext uri="{96DAC541-7B7A-43D3-8B79-37D633B846F1}">
                  <asvg:svgBlip xmlns:asvg="http://schemas.microsoft.com/office/drawing/2016/SVG/main" r:embed="rId9"/>
                </a:ext>
              </a:extLst>
            </a:blip>
            <a:stretch>
              <a:fillRect t="-87" b="-87"/>
            </a:stretch>
          </a:blipFill>
        </p:spPr>
        <p:txBody>
          <a:bodyPr/>
          <a:lstStyle/>
          <a:p>
            <a:endParaRPr lang="en-ZA"/>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E7DD"/>
        </a:solidFill>
        <a:effectLst/>
      </p:bgPr>
    </p:bg>
    <p:spTree>
      <p:nvGrpSpPr>
        <p:cNvPr id="1" name=""/>
        <p:cNvGrpSpPr/>
        <p:nvPr/>
      </p:nvGrpSpPr>
      <p:grpSpPr>
        <a:xfrm>
          <a:off x="0" y="0"/>
          <a:ext cx="0" cy="0"/>
          <a:chOff x="0" y="0"/>
          <a:chExt cx="0" cy="0"/>
        </a:xfrm>
      </p:grpSpPr>
      <p:sp>
        <p:nvSpPr>
          <p:cNvPr id="11" name="Freeform 4">
            <a:extLst>
              <a:ext uri="{FF2B5EF4-FFF2-40B4-BE49-F238E27FC236}">
                <a16:creationId xmlns:a16="http://schemas.microsoft.com/office/drawing/2014/main" id="{949A11D0-3A5D-4564-DDA1-4402151B959F}"/>
              </a:ext>
            </a:extLst>
          </p:cNvPr>
          <p:cNvSpPr/>
          <p:nvPr/>
        </p:nvSpPr>
        <p:spPr>
          <a:xfrm>
            <a:off x="1219200" y="266700"/>
            <a:ext cx="4737922" cy="9207976"/>
          </a:xfrm>
          <a:custGeom>
            <a:avLst/>
            <a:gdLst/>
            <a:ahLst/>
            <a:cxnLst/>
            <a:rect l="l" t="t" r="r" b="b"/>
            <a:pathLst>
              <a:path w="4737922" h="9207976">
                <a:moveTo>
                  <a:pt x="0" y="0"/>
                </a:moveTo>
                <a:lnTo>
                  <a:pt x="4737922" y="0"/>
                </a:lnTo>
                <a:lnTo>
                  <a:pt x="4737922" y="9207976"/>
                </a:lnTo>
                <a:lnTo>
                  <a:pt x="0" y="9207976"/>
                </a:lnTo>
                <a:lnTo>
                  <a:pt x="0" y="0"/>
                </a:lnTo>
                <a:close/>
              </a:path>
            </a:pathLst>
          </a:custGeom>
          <a:blipFill>
            <a:blip r:embed="rId2">
              <a:extLst>
                <a:ext uri="{96DAC541-7B7A-43D3-8B79-37D633B846F1}">
                  <asvg:svgBlip xmlns:asvg="http://schemas.microsoft.com/office/drawing/2016/SVG/main" r:embed="rId3"/>
                </a:ext>
              </a:extLst>
            </a:blip>
            <a:stretch>
              <a:fillRect l="-3" r="-3"/>
            </a:stretch>
          </a:blipFill>
        </p:spPr>
        <p:txBody>
          <a:bodyPr/>
          <a:lstStyle/>
          <a:p>
            <a:endParaRPr lang="en-ZA"/>
          </a:p>
        </p:txBody>
      </p:sp>
      <p:sp>
        <p:nvSpPr>
          <p:cNvPr id="12" name="Freeform 4"/>
          <p:cNvSpPr/>
          <p:nvPr/>
        </p:nvSpPr>
        <p:spPr>
          <a:xfrm>
            <a:off x="11582400" y="419100"/>
            <a:ext cx="6133292" cy="8012615"/>
          </a:xfrm>
          <a:custGeom>
            <a:avLst/>
            <a:gdLst/>
            <a:ahLst/>
            <a:cxnLst/>
            <a:rect l="l" t="t" r="r" b="b"/>
            <a:pathLst>
              <a:path w="6133292" h="8012615">
                <a:moveTo>
                  <a:pt x="0" y="0"/>
                </a:moveTo>
                <a:lnTo>
                  <a:pt x="6133292" y="0"/>
                </a:lnTo>
                <a:lnTo>
                  <a:pt x="6133292" y="8012614"/>
                </a:lnTo>
                <a:lnTo>
                  <a:pt x="0" y="8012614"/>
                </a:lnTo>
                <a:lnTo>
                  <a:pt x="0" y="0"/>
                </a:lnTo>
                <a:close/>
              </a:path>
            </a:pathLst>
          </a:custGeom>
          <a:blipFill>
            <a:blip r:embed="rId4">
              <a:extLst>
                <a:ext uri="{96DAC541-7B7A-43D3-8B79-37D633B846F1}">
                  <asvg:svgBlip xmlns:asvg="http://schemas.microsoft.com/office/drawing/2016/SVG/main" r:embed="rId5"/>
                </a:ext>
              </a:extLst>
            </a:blip>
            <a:stretch>
              <a:fillRect t="-11" b="-11"/>
            </a:stretch>
          </a:blipFill>
        </p:spPr>
        <p:txBody>
          <a:bodyPr/>
          <a:lstStyle/>
          <a:p>
            <a:endParaRPr lang="en-ZA"/>
          </a:p>
        </p:txBody>
      </p:sp>
      <p:sp>
        <p:nvSpPr>
          <p:cNvPr id="13" name="Title 12">
            <a:extLst>
              <a:ext uri="{FF2B5EF4-FFF2-40B4-BE49-F238E27FC236}">
                <a16:creationId xmlns:a16="http://schemas.microsoft.com/office/drawing/2014/main" id="{B98FCA90-66B6-25B9-CCD8-DAB05D1739AD}"/>
              </a:ext>
            </a:extLst>
          </p:cNvPr>
          <p:cNvSpPr>
            <a:spLocks noGrp="1"/>
          </p:cNvSpPr>
          <p:nvPr>
            <p:ph type="title"/>
          </p:nvPr>
        </p:nvSpPr>
        <p:spPr>
          <a:xfrm>
            <a:off x="3326524" y="3304741"/>
            <a:ext cx="8229600" cy="1143000"/>
          </a:xfrm>
        </p:spPr>
        <p:txBody>
          <a:bodyPr>
            <a:noAutofit/>
          </a:bodyPr>
          <a:lstStyle/>
          <a:p>
            <a:r>
              <a:rPr lang="en-ZA" sz="8800" b="1" dirty="0">
                <a:latin typeface="Century Gothic" panose="020B0502020202020204" pitchFamily="34"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TotalTime>
  <Words>658</Words>
  <Application>Microsoft Office PowerPoint</Application>
  <PresentationFormat>Custom</PresentationFormat>
  <Paragraphs>68</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ITC Avant Garde Gothic</vt:lpstr>
      <vt:lpstr>Arial</vt:lpstr>
      <vt:lpstr>Canva Sans</vt:lpstr>
      <vt:lpstr>Century Gothic</vt:lpstr>
      <vt:lpstr>Wingdings</vt:lpstr>
      <vt:lpstr>ITC Avant Garde Gothic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Minimal Coffee Barista Marketing Strategy Presentation</dc:title>
  <dc:creator>Lesiba Sema</dc:creator>
  <cp:lastModifiedBy>Lesiba Sema</cp:lastModifiedBy>
  <cp:revision>3</cp:revision>
  <dcterms:created xsi:type="dcterms:W3CDTF">2006-08-16T00:00:00Z</dcterms:created>
  <dcterms:modified xsi:type="dcterms:W3CDTF">2026-03-31T13:09:27Z</dcterms:modified>
  <dc:identifier>DAHFgtcgjfo</dc:identifier>
</cp:coreProperties>
</file>